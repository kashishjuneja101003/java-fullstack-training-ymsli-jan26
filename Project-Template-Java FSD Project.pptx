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34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14.xml" ContentType="application/vnd.openxmlformats-officedocument.presentationml.slide+xml"/>
  <Override PartName="/ppt/slides/slide36.xml" ContentType="application/vnd.openxmlformats-officedocument.presentationml.slide+xml"/>
  <Override PartName="/ppt/slides/slide15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17.xml" ContentType="application/vnd.openxmlformats-officedocument.presentationml.slide+xml"/>
  <Override PartName="/ppt/slides/slide3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4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33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12.xml.rels" ContentType="application/vnd.openxmlformats-package.relationships+xml"/>
  <Override PartName="/ppt/slides/_rels/slide35.xml.rels" ContentType="application/vnd.openxmlformats-package.relationships+xml"/>
  <Override PartName="/ppt/slides/_rels/slide13.xml.rels" ContentType="application/vnd.openxmlformats-package.relationships+xml"/>
  <Override PartName="/ppt/slides/_rels/slide36.xml.rels" ContentType="application/vnd.openxmlformats-package.relationships+xml"/>
  <Override PartName="/ppt/slides/_rels/slide14.xml.rels" ContentType="application/vnd.openxmlformats-package.relationships+xml"/>
  <Override PartName="/ppt/slides/_rels/slide37.xml.rels" ContentType="application/vnd.openxmlformats-package.relationships+xml"/>
  <Override PartName="/ppt/slides/_rels/slide15.xml.rels" ContentType="application/vnd.openxmlformats-package.relationships+xml"/>
  <Override PartName="/ppt/slides/_rels/slide38.xml.rels" ContentType="application/vnd.openxmlformats-package.relationships+xml"/>
  <Override PartName="/ppt/slides/_rels/slide16.xml.rels" ContentType="application/vnd.openxmlformats-package.relationships+xml"/>
  <Override PartName="/ppt/slides/_rels/slide39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42.xml.rels" ContentType="application/vnd.openxmlformats-package.relationships+xml"/>
  <Override PartName="/ppt/slides/_rels/slide20.xml.rels" ContentType="application/vnd.openxmlformats-package.relationships+xml"/>
  <Override PartName="/ppt/slides/_rels/slide43.xml.rels" ContentType="application/vnd.openxmlformats-package.relationships+xml"/>
  <Override PartName="/ppt/slides/_rels/slide21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slide21.xml" ContentType="application/vnd.openxmlformats-officedocument.presentationml.slide+xml"/>
  <Override PartName="/ppt/slides/slide43.xml" ContentType="application/vnd.openxmlformats-officedocument.presentationml.slide+xml"/>
  <Override PartName="/ppt/slides/slide22.xml" ContentType="application/vnd.openxmlformats-officedocument.presentationml.slide+xml"/>
  <Override PartName="/ppt/slides/slide44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media/image50.png" ContentType="image/png"/>
  <Override PartName="/ppt/media/image1.png" ContentType="image/png"/>
  <Override PartName="/ppt/media/image2.png" ContentType="image/png"/>
  <Override PartName="/ppt/media/image30.png" ContentType="image/png"/>
  <Override PartName="/ppt/media/image3.png" ContentType="image/png"/>
  <Override PartName="/ppt/media/image31.png" ContentType="image/png"/>
  <Override PartName="/ppt/media/image4.png" ContentType="image/png"/>
  <Override PartName="/ppt/media/image5.png" ContentType="image/png"/>
  <Override PartName="/ppt/media/image32.png" ContentType="image/png"/>
  <Override PartName="/ppt/media/image6.png" ContentType="image/png"/>
  <Override PartName="/ppt/media/image11.png" ContentType="image/png"/>
  <Override PartName="/ppt/media/image33.png" ContentType="image/png"/>
  <Override PartName="/ppt/media/image55.png" ContentType="image/png"/>
  <Override PartName="/ppt/media/image7.png" ContentType="image/png"/>
  <Override PartName="/ppt/media/image12.png" ContentType="image/png"/>
  <Override PartName="/ppt/media/image34.png" ContentType="image/png"/>
  <Override PartName="/ppt/media/image8.png" ContentType="image/png"/>
  <Override PartName="/ppt/media/image13.png" ContentType="image/png"/>
  <Override PartName="/ppt/media/image35.png" ContentType="image/png"/>
  <Override PartName="/ppt/media/image9.png" ContentType="image/png"/>
  <Override PartName="/ppt/media/image14.png" ContentType="image/png"/>
  <Override PartName="/ppt/media/image36.png" ContentType="image/png"/>
  <Override PartName="/ppt/media/image10.jpeg" ContentType="image/jpeg"/>
  <Override PartName="/ppt/media/image28.png" ContentType="image/png"/>
  <Override PartName="/ppt/media/image54.jpeg" ContentType="image/jpeg"/>
  <Override PartName="/ppt/media/image15.png" ContentType="image/png"/>
  <Override PartName="/ppt/media/image37.png" ContentType="image/png"/>
  <Override PartName="/ppt/media/image45.jpeg" ContentType="image/jpeg"/>
  <Override PartName="/ppt/media/image16.png" ContentType="image/png"/>
  <Override PartName="/ppt/media/image38.png" ContentType="image/png"/>
  <Override PartName="/ppt/media/image17.png" ContentType="image/png"/>
  <Override PartName="/ppt/media/image39.png" ContentType="image/png"/>
  <Override PartName="/ppt/media/image43.jpeg" ContentType="image/jpeg"/>
  <Override PartName="/ppt/media/image18.png" ContentType="image/png"/>
  <Override PartName="/ppt/media/image53.jpeg" ContentType="image/jpeg"/>
  <Override PartName="/ppt/media/image19.png" ContentType="image/png"/>
  <Override PartName="/ppt/media/image20.png" ContentType="image/png"/>
  <Override PartName="/ppt/media/hdphoto5.wdp" ContentType="image/vnd.ms-photo"/>
  <Override PartName="/ppt/media/image42.png" ContentType="image/png"/>
  <Override PartName="/ppt/media/image21.png" ContentType="image/png"/>
  <Override PartName="/ppt/media/hdphoto6.wdp" ContentType="image/vnd.ms-photo"/>
  <Override PartName="/ppt/media/image22.png" ContentType="image/png"/>
  <Override PartName="/ppt/media/hdphoto7.wdp" ContentType="image/vnd.ms-photo"/>
  <Override PartName="/ppt/media/image23.png" ContentType="image/png"/>
  <Override PartName="/ppt/media/hdphoto8.wdp" ContentType="image/vnd.ms-photo"/>
  <Override PartName="/ppt/media/hdphoto1.wdp" ContentType="image/vnd.ms-photo"/>
  <Override PartName="/ppt/media/image24.png" ContentType="image/png"/>
  <Override PartName="/ppt/media/image46.png" ContentType="image/png"/>
  <Override PartName="/ppt/media/image25.png" ContentType="image/png"/>
  <Override PartName="/ppt/media/image47.png" ContentType="image/png"/>
  <Override PartName="/ppt/media/image26.png" ContentType="image/png"/>
  <Override PartName="/ppt/media/image48.png" ContentType="image/png"/>
  <Override PartName="/ppt/media/image27.png" ContentType="image/png"/>
  <Override PartName="/ppt/media/image44.jpeg" ContentType="image/jpeg"/>
  <Override PartName="/ppt/media/image49.png" ContentType="image/png"/>
  <Override PartName="/ppt/media/hdphoto2.wdp" ContentType="image/vnd.ms-photo"/>
  <Override PartName="/ppt/media/hdphoto3.wdp" ContentType="image/vnd.ms-photo"/>
  <Override PartName="/ppt/media/image29.png" ContentType="image/png"/>
  <Override PartName="/ppt/media/hdphoto4.wdp" ContentType="image/vnd.ms-photo"/>
  <Override PartName="/ppt/media/image41.png" ContentType="image/png"/>
  <Override PartName="/ppt/media/image40.jpeg" ContentType="image/jpeg"/>
  <Override PartName="/ppt/media/image51.jpeg" ContentType="image/jpeg"/>
  <Override PartName="/ppt/media/image52.jpeg" ContentType="image/jpe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6A9BA5E-B826-43AB-9EE9-6A50DF2D5B88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dt" idx="7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1920" cy="256644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5"/>
          <p:cNvSpPr>
            <a:spLocks noGrp="1"/>
          </p:cNvSpPr>
          <p:nvPr>
            <p:ph type="ftr" idx="8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PlaceHolder 6"/>
          <p:cNvSpPr>
            <a:spLocks noGrp="1"/>
          </p:cNvSpPr>
          <p:nvPr>
            <p:ph type="sldNum" idx="9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dt" idx="10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1920" cy="256644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5"/>
          <p:cNvSpPr>
            <a:spLocks noGrp="1"/>
          </p:cNvSpPr>
          <p:nvPr>
            <p:ph type="ftr" idx="11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PlaceHolder 6"/>
          <p:cNvSpPr>
            <a:spLocks noGrp="1"/>
          </p:cNvSpPr>
          <p:nvPr>
            <p:ph type="sldNum" idx="12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dt" idx="13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1920" cy="256644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5"/>
          <p:cNvSpPr>
            <a:spLocks noGrp="1"/>
          </p:cNvSpPr>
          <p:nvPr>
            <p:ph type="ftr" idx="14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PlaceHolder 6"/>
          <p:cNvSpPr>
            <a:spLocks noGrp="1"/>
          </p:cNvSpPr>
          <p:nvPr>
            <p:ph type="sldNum" idx="15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dt" idx="16"/>
          </p:nvPr>
        </p:nvSpPr>
        <p:spPr>
          <a:xfrm>
            <a:off x="5180040" y="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1920" cy="256644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5"/>
          <p:cNvSpPr>
            <a:spLocks noGrp="1"/>
          </p:cNvSpPr>
          <p:nvPr>
            <p:ph type="ftr" idx="17"/>
          </p:nvPr>
        </p:nvSpPr>
        <p:spPr>
          <a:xfrm>
            <a:off x="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 type="sldNum" idx="18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2290680" y="512640"/>
            <a:ext cx="4561920" cy="256644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480" cy="30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9"/>
          </p:nvPr>
        </p:nvSpPr>
        <p:spPr>
          <a:xfrm>
            <a:off x="5180040" y="6502320"/>
            <a:ext cx="3961800" cy="3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0D7007-E88E-4A2B-87BC-6798C52A0AAF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1738F7-1485-473E-A833-7549A685A3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E8282D-9209-450C-840F-4F01FA545F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274E3A-0186-4633-A097-2B41AF1AA2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128CD7-60CA-41ED-8AC3-CC9BC169B3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1DC99A-379A-4210-AAF5-9B63AA20D4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480" cy="796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EF29BB-CF13-433F-A85A-294FED56CD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FEB1DD-89FD-47BD-AE16-1026CAB6D4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EE899F-B236-4ED9-BB3C-C39086E76B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DBE929-5B7E-4B75-B9EC-4F154C40C6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DA95DF-3C03-44C8-B830-B69624EAB1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A84A5F-3418-4222-B46A-152F10F846B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1333FD-287B-48D1-A725-1BEB69A148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7"/>
          <p:cNvSpPr/>
          <p:nvPr/>
        </p:nvSpPr>
        <p:spPr>
          <a:xfrm>
            <a:off x="63360" y="10071000"/>
            <a:ext cx="15422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Calibri"/>
                <a:ea typeface="Calibri"/>
              </a:rPr>
              <a:t>Confidential – Oracle Internal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28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28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480" cy="28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9070E7-ADAE-47FC-A8B6-43C6FCA6C3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7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jpeg"/><Relationship Id="rId1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microsoft.com/office/2007/relationships/hdphoto" Target="../media/hdphoto1.wdp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microsoft.com/office/2007/relationships/hdphoto" Target="../media/hdphoto2.wdp"/><Relationship Id="rId3" Type="http://schemas.openxmlformats.org/officeDocument/2006/relationships/image" Target="../media/image28.png"/><Relationship Id="rId4" Type="http://schemas.microsoft.com/office/2007/relationships/hdphoto" Target="../media/hdphoto3.wdp"/><Relationship Id="rId5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microsoft.com/office/2007/relationships/hdphoto" Target="../media/hdphoto4.wdp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microsoft.com/office/2007/relationships/hdphoto" Target="../media/hdphoto5.wdp"/><Relationship Id="rId5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microsoft.com/office/2007/relationships/hdphoto" Target="../media/hdphoto6.wdp"/><Relationship Id="rId3" Type="http://schemas.openxmlformats.org/officeDocument/2006/relationships/image" Target="../media/image39.png"/><Relationship Id="rId4" Type="http://schemas.microsoft.com/office/2007/relationships/hdphoto" Target="../media/hdphoto7.wdp"/><Relationship Id="rId5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5.jpeg"/><Relationship Id="rId2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microsoft.com/office/2007/relationships/hdphoto" Target="../media/hdphoto8.wdp"/><Relationship Id="rId3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7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"/>
          <p:cNvGrpSpPr/>
          <p:nvPr/>
        </p:nvGrpSpPr>
        <p:grpSpPr>
          <a:xfrm>
            <a:off x="16774560" y="9532800"/>
            <a:ext cx="753840" cy="753840"/>
            <a:chOff x="16774560" y="9532800"/>
            <a:chExt cx="753840" cy="753840"/>
          </a:xfrm>
        </p:grpSpPr>
        <p:sp>
          <p:nvSpPr>
            <p:cNvPr id="51" name="Freeform 5"/>
            <p:cNvSpPr/>
            <p:nvPr/>
          </p:nvSpPr>
          <p:spPr>
            <a:xfrm>
              <a:off x="16774560" y="9532800"/>
              <a:ext cx="753840" cy="753840"/>
            </a:xfrm>
            <a:custGeom>
              <a:avLst/>
              <a:gdLst>
                <a:gd name="textAreaLeft" fmla="*/ 0 w 753840"/>
                <a:gd name="textAreaRight" fmla="*/ 754560 w 753840"/>
                <a:gd name="textAreaTop" fmla="*/ 0 h 753840"/>
                <a:gd name="textAreaBottom" fmla="*/ 754560 h 753840"/>
              </a:gdLst>
              <a:ahLst/>
              <a:rect l="textAreaLeft" t="textAreaTop" r="textAreaRight" b="textAreaBottom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2" name="AutoShape 6"/>
          <p:cNvSpPr/>
          <p:nvPr/>
        </p:nvSpPr>
        <p:spPr>
          <a:xfrm flipH="1">
            <a:off x="1498320" y="6134040"/>
            <a:ext cx="537120" cy="56880"/>
          </a:xfrm>
          <a:prstGeom prst="line">
            <a:avLst/>
          </a:prstGeom>
          <a:ln cap="rnd" w="28575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53" name="Group 8"/>
          <p:cNvGrpSpPr/>
          <p:nvPr/>
        </p:nvGrpSpPr>
        <p:grpSpPr>
          <a:xfrm>
            <a:off x="1260000" y="2340000"/>
            <a:ext cx="15646320" cy="7651800"/>
            <a:chOff x="1260000" y="2340000"/>
            <a:chExt cx="15646320" cy="7651800"/>
          </a:xfrm>
        </p:grpSpPr>
        <p:sp>
          <p:nvSpPr>
            <p:cNvPr id="54" name="Freeform 9"/>
            <p:cNvSpPr/>
            <p:nvPr/>
          </p:nvSpPr>
          <p:spPr>
            <a:xfrm>
              <a:off x="1260000" y="2340000"/>
              <a:ext cx="15646320" cy="7651800"/>
            </a:xfrm>
            <a:custGeom>
              <a:avLst/>
              <a:gdLst>
                <a:gd name="textAreaLeft" fmla="*/ 0 w 15646320"/>
                <a:gd name="textAreaRight" fmla="*/ 15647040 w 15646320"/>
                <a:gd name="textAreaTop" fmla="*/ 0 h 7651800"/>
                <a:gd name="textAreaBottom" fmla="*/ 7652520 h 7651800"/>
              </a:gdLst>
              <a:ahLst/>
              <a:rect l="textAreaLeft" t="textAreaTop" r="textAreaRight" b="textAreaBottom"/>
              <a:pathLst>
                <a:path w="2122414" h="1028290">
                  <a:moveTo>
                    <a:pt x="11380" y="0"/>
                  </a:moveTo>
                  <a:lnTo>
                    <a:pt x="2111034" y="0"/>
                  </a:lnTo>
                  <a:cubicBezTo>
                    <a:pt x="2114053" y="0"/>
                    <a:pt x="2116947" y="1199"/>
                    <a:pt x="2119081" y="3333"/>
                  </a:cubicBezTo>
                  <a:cubicBezTo>
                    <a:pt x="2121215" y="5467"/>
                    <a:pt x="2122414" y="8362"/>
                    <a:pt x="2122414" y="11380"/>
                  </a:cubicBezTo>
                  <a:lnTo>
                    <a:pt x="2122414" y="1016910"/>
                  </a:lnTo>
                  <a:cubicBezTo>
                    <a:pt x="2122414" y="1023195"/>
                    <a:pt x="2117319" y="1028290"/>
                    <a:pt x="2111034" y="1028290"/>
                  </a:cubicBezTo>
                  <a:lnTo>
                    <a:pt x="11380" y="1028290"/>
                  </a:lnTo>
                  <a:cubicBezTo>
                    <a:pt x="8362" y="1028290"/>
                    <a:pt x="5467" y="1027091"/>
                    <a:pt x="3333" y="1024957"/>
                  </a:cubicBezTo>
                  <a:cubicBezTo>
                    <a:pt x="1199" y="1022823"/>
                    <a:pt x="0" y="1019928"/>
                    <a:pt x="0" y="1016910"/>
                  </a:cubicBezTo>
                  <a:lnTo>
                    <a:pt x="0" y="11380"/>
                  </a:lnTo>
                  <a:cubicBezTo>
                    <a:pt x="0" y="5095"/>
                    <a:pt x="5095" y="0"/>
                    <a:pt x="11380" y="0"/>
                  </a:cubicBezTo>
                  <a:close/>
                </a:path>
              </a:pathLst>
            </a:custGeom>
            <a:solidFill>
              <a:srgbClr val="e7e6e6"/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5" name="TextBox 10"/>
          <p:cNvSpPr/>
          <p:nvPr/>
        </p:nvSpPr>
        <p:spPr>
          <a:xfrm>
            <a:off x="1523160" y="5397840"/>
            <a:ext cx="614376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647640" indent="-324000" algn="just" defTabSz="914400">
              <a:lnSpc>
                <a:spcPts val="4201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3000" spc="-1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XZY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1"/>
          <p:cNvSpPr/>
          <p:nvPr/>
        </p:nvSpPr>
        <p:spPr>
          <a:xfrm>
            <a:off x="4998240" y="3009960"/>
            <a:ext cx="8431200" cy="180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104"/>
              </a:lnSpc>
            </a:pPr>
            <a:r>
              <a:rPr b="1" lang="en-US" sz="5070" spc="-1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MyBank </a:t>
            </a:r>
            <a:endParaRPr b="0" lang="en-IN" sz="507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7104"/>
              </a:lnSpc>
            </a:pPr>
            <a:r>
              <a:rPr b="1" lang="en-US" sz="5070" spc="-1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Banking Application</a:t>
            </a:r>
            <a:endParaRPr b="0" lang="en-IN" sz="5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2"/>
          <p:cNvSpPr/>
          <p:nvPr/>
        </p:nvSpPr>
        <p:spPr>
          <a:xfrm>
            <a:off x="10919880" y="9328680"/>
            <a:ext cx="614376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201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2"/>
          <p:cNvSpPr/>
          <p:nvPr/>
        </p:nvSpPr>
        <p:spPr>
          <a:xfrm>
            <a:off x="2438280" y="366120"/>
            <a:ext cx="13917600" cy="9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082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Table of Contents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721"/>
              </a:lnSpc>
            </a:pP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Brief description of the case study/problem statement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Objective of the project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Tools &amp; Technologies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High-level architecture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Key components or features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Flowchart and User Flow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Tools Description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Implemented Project Structure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Screenshots of implementation (User &amp; Admin)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Monitoring and Testing tools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Challenges faced and how they were addressed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Key Takeaways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5280" indent="-431640" defTabSz="914400">
              <a:lnSpc>
                <a:spcPct val="150000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Github Link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" name="Group 3"/>
          <p:cNvGrpSpPr/>
          <p:nvPr/>
        </p:nvGrpSpPr>
        <p:grpSpPr>
          <a:xfrm>
            <a:off x="3121560" y="9459360"/>
            <a:ext cx="9793440" cy="700200"/>
            <a:chOff x="3121560" y="9459360"/>
            <a:chExt cx="9793440" cy="700200"/>
          </a:xfrm>
        </p:grpSpPr>
        <p:sp>
          <p:nvSpPr>
            <p:cNvPr id="60" name="Freeform 4"/>
            <p:cNvSpPr/>
            <p:nvPr/>
          </p:nvSpPr>
          <p:spPr>
            <a:xfrm>
              <a:off x="3121560" y="9487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1" name="TextBox 5"/>
            <p:cNvSpPr/>
            <p:nvPr/>
          </p:nvSpPr>
          <p:spPr>
            <a:xfrm>
              <a:off x="3121560" y="945936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" name="Group 6"/>
          <p:cNvGrpSpPr/>
          <p:nvPr/>
        </p:nvGrpSpPr>
        <p:grpSpPr>
          <a:xfrm>
            <a:off x="12916080" y="9508320"/>
            <a:ext cx="4114080" cy="575640"/>
            <a:chOff x="12916080" y="9508320"/>
            <a:chExt cx="4114080" cy="575640"/>
          </a:xfrm>
        </p:grpSpPr>
        <p:sp>
          <p:nvSpPr>
            <p:cNvPr id="63" name="Freeform 7"/>
            <p:cNvSpPr/>
            <p:nvPr/>
          </p:nvSpPr>
          <p:spPr>
            <a:xfrm>
              <a:off x="12916080" y="95367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64" name="TextBox 8"/>
            <p:cNvSpPr/>
            <p:nvPr/>
          </p:nvSpPr>
          <p:spPr>
            <a:xfrm>
              <a:off x="12916080" y="95083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2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2"/>
          <p:cNvSpPr/>
          <p:nvPr/>
        </p:nvSpPr>
        <p:spPr>
          <a:xfrm>
            <a:off x="5867280" y="505440"/>
            <a:ext cx="555192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800" spc="-46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Problem Statement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1033920" y="1426320"/>
            <a:ext cx="16572960" cy="21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2300" spc="-1" strike="noStrike">
                <a:solidFill>
                  <a:srgbClr val="1d1c1d"/>
                </a:solidFill>
                <a:latin typeface="Arial"/>
              </a:rPr>
              <a:t>Traditional monolithic banking systems cause tight coupling between users, accounts, and loans, making feature evolution difficult. Manual cross-checks lead to frequent errors and inefficiencies. Failures in one module can impact the entire system due to limited fault isolation. Hence, there is a pressing need for a secure, modular, and scalable solution that allows independent evolution of services without system-wide impact.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801720" y="4879800"/>
            <a:ext cx="17069760" cy="46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defTabSz="914400">
              <a:lnSpc>
                <a:spcPct val="150000"/>
              </a:lnSpc>
              <a:spcBef>
                <a:spcPts val="1199"/>
              </a:spcBef>
              <a:buClr>
                <a:srgbClr val="1d1c1d"/>
              </a:buClr>
              <a:buFont typeface="Arial"/>
              <a:buChar char="•"/>
            </a:pPr>
            <a:r>
              <a:rPr b="1" lang="en-US" sz="2300" spc="-1" strike="noStrike">
                <a:solidFill>
                  <a:srgbClr val="1d1c1d"/>
                </a:solidFill>
                <a:latin typeface="Arial"/>
              </a:rPr>
              <a:t>Modular Microservices Architecture</a:t>
            </a:r>
            <a:br>
              <a:rPr sz="2300"/>
            </a:br>
            <a:r>
              <a:rPr b="0" lang="en-US" sz="2300" spc="-1" strike="noStrike">
                <a:solidFill>
                  <a:srgbClr val="1d1c1d"/>
                </a:solidFill>
                <a:latin typeface="Arial"/>
              </a:rPr>
              <a:t>Decouple users, accounts, loans, and admin into independently deployable services for better scalability and maintainability.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1199"/>
              </a:spcBef>
              <a:buClr>
                <a:srgbClr val="1d1c1d"/>
              </a:buClr>
              <a:buFont typeface="Arial"/>
              <a:buChar char="•"/>
            </a:pPr>
            <a:r>
              <a:rPr b="1" lang="en-US" sz="2300" spc="-1" strike="noStrike">
                <a:solidFill>
                  <a:srgbClr val="1d1c1d"/>
                </a:solidFill>
                <a:latin typeface="Arial"/>
              </a:rPr>
              <a:t>Automated Loan Lifecycle</a:t>
            </a:r>
            <a:br>
              <a:rPr sz="2300"/>
            </a:br>
            <a:r>
              <a:rPr b="0" lang="en-US" sz="2300" spc="-1" strike="noStrike">
                <a:solidFill>
                  <a:srgbClr val="1d1c1d"/>
                </a:solidFill>
                <a:latin typeface="Arial"/>
              </a:rPr>
              <a:t>Streamline the full loan process (apply → approve → disburse → repay) with an audit trail for transparency and compliance.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1199"/>
              </a:spcBef>
              <a:buClr>
                <a:srgbClr val="1d1c1d"/>
              </a:buClr>
              <a:buFont typeface="Arial"/>
              <a:buChar char="•"/>
            </a:pPr>
            <a:r>
              <a:rPr b="1" lang="en-US" sz="2300" spc="-1" strike="noStrike">
                <a:solidFill>
                  <a:srgbClr val="1d1c1d"/>
                </a:solidFill>
                <a:latin typeface="Arial"/>
              </a:rPr>
              <a:t>Centralized Observability &amp; Admin Oversight</a:t>
            </a:r>
            <a:br>
              <a:rPr sz="2300"/>
            </a:br>
            <a:r>
              <a:rPr b="0" lang="en-US" sz="2300" spc="-1" strike="noStrike">
                <a:solidFill>
                  <a:srgbClr val="1d1c1d"/>
                </a:solidFill>
                <a:latin typeface="Arial"/>
              </a:rPr>
              <a:t>Enable real-time monitoring, logging, and user/loan visibility for administrators through a unified dashboard.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1199"/>
              </a:spcBef>
              <a:buClr>
                <a:srgbClr val="1d1c1d"/>
              </a:buClr>
              <a:buFont typeface="Arial"/>
              <a:buChar char="•"/>
            </a:pPr>
            <a:r>
              <a:rPr b="1" lang="en-US" sz="2300" spc="-1" strike="noStrike">
                <a:solidFill>
                  <a:srgbClr val="1d1c1d"/>
                </a:solidFill>
                <a:latin typeface="Arial"/>
              </a:rPr>
              <a:t>Resilient &amp; Scalable System Design</a:t>
            </a:r>
            <a:br>
              <a:rPr sz="2300"/>
            </a:br>
            <a:r>
              <a:rPr b="0" lang="en-US" sz="2300" spc="-1" strike="noStrike">
                <a:solidFill>
                  <a:srgbClr val="1d1c1d"/>
                </a:solidFill>
                <a:latin typeface="Arial"/>
              </a:rPr>
              <a:t>Leverage service discovery, inter-service contracts, and targeted scaling of high-traffic services like loans and accounts.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5"/>
          <p:cNvSpPr/>
          <p:nvPr/>
        </p:nvSpPr>
        <p:spPr>
          <a:xfrm>
            <a:off x="7210800" y="4034880"/>
            <a:ext cx="286488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98"/>
              </a:lnSpc>
            </a:pPr>
            <a:r>
              <a:rPr b="1" lang="en-US" sz="4800" spc="-46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Objectives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" name="Group 6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70" name="Freeform 7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1" name="TextBox 8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" name="Group 14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73" name="Freeform 15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4" name="TextBox 16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3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2"/>
          <p:cNvGrpSpPr/>
          <p:nvPr/>
        </p:nvGrpSpPr>
        <p:grpSpPr>
          <a:xfrm>
            <a:off x="9524880" y="1467000"/>
            <a:ext cx="4785480" cy="1764000"/>
            <a:chOff x="9524880" y="1467000"/>
            <a:chExt cx="4785480" cy="1764000"/>
          </a:xfrm>
        </p:grpSpPr>
        <p:sp>
          <p:nvSpPr>
            <p:cNvPr id="76" name="Freeform 3"/>
            <p:cNvSpPr/>
            <p:nvPr/>
          </p:nvSpPr>
          <p:spPr>
            <a:xfrm>
              <a:off x="9524880" y="1621440"/>
              <a:ext cx="987120" cy="1392480"/>
            </a:xfrm>
            <a:custGeom>
              <a:avLst/>
              <a:gdLst>
                <a:gd name="textAreaLeft" fmla="*/ 0 w 987120"/>
                <a:gd name="textAreaRight" fmla="*/ 987840 w 987120"/>
                <a:gd name="textAreaTop" fmla="*/ 0 h 1392480"/>
                <a:gd name="textAreaBottom" fmla="*/ 1393200 h 1392480"/>
              </a:gdLst>
              <a:ahLst/>
              <a:rect l="textAreaLeft" t="textAreaTop" r="textAreaRight" b="textAreaBottom"/>
              <a:pathLst>
                <a:path w="1317253" h="1857664">
                  <a:moveTo>
                    <a:pt x="0" y="0"/>
                  </a:moveTo>
                  <a:lnTo>
                    <a:pt x="1317253" y="0"/>
                  </a:lnTo>
                  <a:lnTo>
                    <a:pt x="1317253" y="1857664"/>
                  </a:lnTo>
                  <a:lnTo>
                    <a:pt x="0" y="185766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" name="Freeform 4"/>
            <p:cNvSpPr/>
            <p:nvPr/>
          </p:nvSpPr>
          <p:spPr>
            <a:xfrm>
              <a:off x="13071960" y="1775520"/>
              <a:ext cx="1238400" cy="1238400"/>
            </a:xfrm>
            <a:custGeom>
              <a:avLst/>
              <a:gdLst>
                <a:gd name="textAreaLeft" fmla="*/ 0 w 1238400"/>
                <a:gd name="textAreaRight" fmla="*/ 1239120 w 1238400"/>
                <a:gd name="textAreaTop" fmla="*/ 0 h 1238400"/>
                <a:gd name="textAreaBottom" fmla="*/ 1239120 h 1238400"/>
              </a:gdLst>
              <a:ahLst/>
              <a:rect l="textAreaLeft" t="textAreaTop" r="textAreaRight" b="textAreaBottom"/>
              <a:pathLst>
                <a:path w="1652116" h="1652116">
                  <a:moveTo>
                    <a:pt x="0" y="0"/>
                  </a:moveTo>
                  <a:lnTo>
                    <a:pt x="1652116" y="0"/>
                  </a:lnTo>
                  <a:lnTo>
                    <a:pt x="1652116" y="1652116"/>
                  </a:lnTo>
                  <a:lnTo>
                    <a:pt x="0" y="16521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8" name="Freeform 5"/>
            <p:cNvSpPr/>
            <p:nvPr/>
          </p:nvSpPr>
          <p:spPr>
            <a:xfrm>
              <a:off x="10513080" y="1467000"/>
              <a:ext cx="2558520" cy="1764000"/>
            </a:xfrm>
            <a:custGeom>
              <a:avLst/>
              <a:gdLst>
                <a:gd name="textAreaLeft" fmla="*/ 0 w 2558520"/>
                <a:gd name="textAreaRight" fmla="*/ 2559240 w 2558520"/>
                <a:gd name="textAreaTop" fmla="*/ 0 h 1764000"/>
                <a:gd name="textAreaBottom" fmla="*/ 1764720 h 1764000"/>
              </a:gdLst>
              <a:ahLst/>
              <a:rect l="textAreaLeft" t="textAreaTop" r="textAreaRight" b="textAreaBottom"/>
              <a:pathLst>
                <a:path w="3412251" h="2352866">
                  <a:moveTo>
                    <a:pt x="0" y="0"/>
                  </a:moveTo>
                  <a:lnTo>
                    <a:pt x="3412251" y="0"/>
                  </a:lnTo>
                  <a:lnTo>
                    <a:pt x="3412251" y="2352866"/>
                  </a:lnTo>
                  <a:lnTo>
                    <a:pt x="0" y="235286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79" name="Freeform 6"/>
          <p:cNvSpPr/>
          <p:nvPr/>
        </p:nvSpPr>
        <p:spPr>
          <a:xfrm>
            <a:off x="4714560" y="3142800"/>
            <a:ext cx="2246400" cy="1813320"/>
          </a:xfrm>
          <a:custGeom>
            <a:avLst/>
            <a:gdLst>
              <a:gd name="textAreaLeft" fmla="*/ 0 w 2246400"/>
              <a:gd name="textAreaRight" fmla="*/ 2247120 w 2246400"/>
              <a:gd name="textAreaTop" fmla="*/ 0 h 1813320"/>
              <a:gd name="textAreaBottom" fmla="*/ 1814040 h 1813320"/>
            </a:gdLst>
            <a:ahLst/>
            <a:rect l="textAreaLeft" t="textAreaTop" r="textAreaRight" b="textAreaBottom"/>
            <a:pathLst>
              <a:path w="2247151" h="1813966">
                <a:moveTo>
                  <a:pt x="0" y="0"/>
                </a:moveTo>
                <a:lnTo>
                  <a:pt x="2247151" y="0"/>
                </a:lnTo>
                <a:lnTo>
                  <a:pt x="2247151" y="1813965"/>
                </a:lnTo>
                <a:lnTo>
                  <a:pt x="0" y="18139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TextBox 15"/>
          <p:cNvSpPr/>
          <p:nvPr/>
        </p:nvSpPr>
        <p:spPr>
          <a:xfrm>
            <a:off x="4691520" y="300600"/>
            <a:ext cx="783000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000" spc="-46" strike="noStrike">
                <a:solidFill>
                  <a:schemeClr val="dk1"/>
                </a:solidFill>
                <a:latin typeface="Times New Roman Bold"/>
                <a:ea typeface="Times New Roman Bold"/>
              </a:rPr>
              <a:t>Tools &amp; Technologies Used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16"/>
          <p:cNvSpPr/>
          <p:nvPr/>
        </p:nvSpPr>
        <p:spPr>
          <a:xfrm>
            <a:off x="657360" y="1829880"/>
            <a:ext cx="327240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20"/>
              </a:lnSpc>
            </a:pPr>
            <a:r>
              <a:rPr b="0" lang="en-US" sz="2800" spc="-38" strike="noStrike">
                <a:solidFill>
                  <a:srgbClr val="000000"/>
                </a:solidFill>
                <a:latin typeface="Times New Roman"/>
                <a:ea typeface="Times New Roman"/>
              </a:rPr>
              <a:t>Frontend: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7"/>
          <p:cNvSpPr/>
          <p:nvPr/>
        </p:nvSpPr>
        <p:spPr>
          <a:xfrm>
            <a:off x="657360" y="3589560"/>
            <a:ext cx="327240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20"/>
              </a:lnSpc>
            </a:pPr>
            <a:r>
              <a:rPr b="0" lang="en-US" sz="2800" spc="-38" strike="noStrike">
                <a:solidFill>
                  <a:srgbClr val="000000"/>
                </a:solidFill>
                <a:latin typeface="Times New Roman"/>
                <a:ea typeface="Times New Roman"/>
              </a:rPr>
              <a:t>Backend: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8"/>
          <p:cNvSpPr/>
          <p:nvPr/>
        </p:nvSpPr>
        <p:spPr>
          <a:xfrm>
            <a:off x="657360" y="5367960"/>
            <a:ext cx="327240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20"/>
              </a:lnSpc>
            </a:pPr>
            <a:r>
              <a:rPr b="0" lang="en-US" sz="2800" spc="-38" strike="noStrike">
                <a:solidFill>
                  <a:srgbClr val="000000"/>
                </a:solidFill>
                <a:latin typeface="Times New Roman"/>
                <a:ea typeface="Times New Roman"/>
              </a:rPr>
              <a:t>IDE: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9"/>
          <p:cNvSpPr/>
          <p:nvPr/>
        </p:nvSpPr>
        <p:spPr>
          <a:xfrm>
            <a:off x="657360" y="7141320"/>
            <a:ext cx="327240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20"/>
              </a:lnSpc>
            </a:pPr>
            <a:r>
              <a:rPr b="0" lang="en-US" sz="2800" spc="-38" strike="noStrike">
                <a:solidFill>
                  <a:srgbClr val="000000"/>
                </a:solidFill>
                <a:latin typeface="Times New Roman"/>
                <a:ea typeface="Times New Roman"/>
              </a:rPr>
              <a:t>Database: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657360" y="8609760"/>
            <a:ext cx="3272400" cy="11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20"/>
              </a:lnSpc>
            </a:pPr>
            <a:r>
              <a:rPr b="0" lang="en-US" sz="2800" spc="-38" strike="noStrike">
                <a:solidFill>
                  <a:srgbClr val="000000"/>
                </a:solidFill>
                <a:latin typeface="Times New Roman"/>
                <a:ea typeface="Times New Roman"/>
              </a:rPr>
              <a:t>Monitoring /Testing and Streaming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6" name="Group 24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87" name="Freeform 25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" name="TextBox 26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89" name="Picture 27" descr="A red and white logo&#10;&#10;AI-generated content may be incorrect."/>
          <p:cNvPicPr/>
          <p:nvPr/>
        </p:nvPicPr>
        <p:blipFill>
          <a:blip r:embed="rId5"/>
          <a:stretch/>
        </p:blipFill>
        <p:spPr>
          <a:xfrm>
            <a:off x="4918320" y="1691280"/>
            <a:ext cx="1238400" cy="1315440"/>
          </a:xfrm>
          <a:prstGeom prst="rect">
            <a:avLst/>
          </a:prstGeom>
          <a:ln w="0">
            <a:noFill/>
          </a:ln>
        </p:spPr>
      </p:pic>
      <p:pic>
        <p:nvPicPr>
          <p:cNvPr id="90" name="Picture 29" descr="A green text on a black background&#10;&#10;AI-generated content may be incorrect."/>
          <p:cNvPicPr/>
          <p:nvPr/>
        </p:nvPicPr>
        <p:blipFill>
          <a:blip r:embed="rId6"/>
          <a:stretch/>
        </p:blipFill>
        <p:spPr>
          <a:xfrm>
            <a:off x="7574400" y="3647880"/>
            <a:ext cx="3138120" cy="803520"/>
          </a:xfrm>
          <a:prstGeom prst="rect">
            <a:avLst/>
          </a:prstGeom>
          <a:ln w="0">
            <a:noFill/>
          </a:ln>
        </p:spPr>
      </p:pic>
      <p:pic>
        <p:nvPicPr>
          <p:cNvPr id="91" name="Picture 31" descr="A black background with red text&#10;&#10;AI-generated content may be incorrect."/>
          <p:cNvPicPr/>
          <p:nvPr/>
        </p:nvPicPr>
        <p:blipFill>
          <a:blip r:embed="rId7"/>
          <a:stretch/>
        </p:blipFill>
        <p:spPr>
          <a:xfrm>
            <a:off x="4445280" y="5965560"/>
            <a:ext cx="2981160" cy="298116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2" descr=""/>
          <p:cNvPicPr/>
          <p:nvPr/>
        </p:nvPicPr>
        <p:blipFill>
          <a:blip r:embed="rId8"/>
          <a:stretch/>
        </p:blipFill>
        <p:spPr>
          <a:xfrm>
            <a:off x="4886640" y="5143680"/>
            <a:ext cx="1508760" cy="115524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6" descr="TypeScript - Wikipedia"/>
          <p:cNvPicPr/>
          <p:nvPr/>
        </p:nvPicPr>
        <p:blipFill>
          <a:blip r:embed="rId9"/>
          <a:stretch/>
        </p:blipFill>
        <p:spPr>
          <a:xfrm>
            <a:off x="7117920" y="1677960"/>
            <a:ext cx="1238400" cy="1238400"/>
          </a:xfrm>
          <a:prstGeom prst="rect">
            <a:avLst/>
          </a:prstGeom>
          <a:ln w="0">
            <a:noFill/>
          </a:ln>
        </p:spPr>
      </p:pic>
      <p:pic>
        <p:nvPicPr>
          <p:cNvPr id="94" name="Picture 8" descr="Postman Reviews 2025: Details, Pricing, &amp; Features | G2"/>
          <p:cNvPicPr/>
          <p:nvPr/>
        </p:nvPicPr>
        <p:blipFill>
          <a:blip r:embed="rId10"/>
          <a:stretch/>
        </p:blipFill>
        <p:spPr>
          <a:xfrm>
            <a:off x="4470480" y="8193960"/>
            <a:ext cx="1850400" cy="165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2" descr=""/>
          <p:cNvPicPr/>
          <p:nvPr/>
        </p:nvPicPr>
        <p:blipFill>
          <a:blip r:embed="rId1"/>
          <a:stretch/>
        </p:blipFill>
        <p:spPr>
          <a:xfrm>
            <a:off x="3124080" y="1028880"/>
            <a:ext cx="11277000" cy="8326440"/>
          </a:xfrm>
          <a:prstGeom prst="rect">
            <a:avLst/>
          </a:prstGeom>
          <a:ln w="0">
            <a:noFill/>
          </a:ln>
        </p:spPr>
      </p:pic>
      <p:sp>
        <p:nvSpPr>
          <p:cNvPr id="96" name="TextBox 1"/>
          <p:cNvSpPr/>
          <p:nvPr/>
        </p:nvSpPr>
        <p:spPr>
          <a:xfrm>
            <a:off x="4724280" y="114480"/>
            <a:ext cx="93718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IN" sz="3200" spc="-1" strike="noStrike">
                <a:solidFill>
                  <a:schemeClr val="dk1"/>
                </a:solidFill>
                <a:latin typeface="Arial"/>
              </a:rPr>
              <a:t>High Level Architecture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2"/>
          <p:cNvSpPr/>
          <p:nvPr/>
        </p:nvSpPr>
        <p:spPr>
          <a:xfrm>
            <a:off x="1181160" y="1372320"/>
            <a:ext cx="15924960" cy="79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Request Flow </a:t>
            </a:r>
            <a:r>
              <a:rPr b="1" lang="en-IN" sz="23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en-IN" sz="2300" spc="-1" strike="noStrike">
                <a:solidFill>
                  <a:srgbClr val="1d1c1d"/>
                </a:solidFill>
                <a:latin typeface="Calibri"/>
              </a:rPr>
              <a:t>Frontend → user-service / loan-service / admin-service / card-service → account-service / transaction-service → Databases 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200000"/>
              </a:lnSpc>
            </a:pPr>
            <a:r>
              <a:rPr b="0" lang="en-IN" sz="2300" spc="-1" strike="noStrike">
                <a:solidFill>
                  <a:schemeClr val="dk1"/>
                </a:solidFill>
                <a:latin typeface="Calibri"/>
              </a:rPr>
              <a:t>Examples: 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300" spc="-1" strike="noStrike">
                <a:solidFill>
                  <a:schemeClr val="dk1"/>
                </a:solidFill>
                <a:latin typeface="Calibri"/>
              </a:rPr>
              <a:t>User + Account: Client → user-service → account-service → Aggregate response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300" spc="-1" strike="noStrike">
                <a:solidFill>
                  <a:schemeClr val="dk1"/>
                </a:solidFill>
                <a:latin typeface="Calibri"/>
              </a:rPr>
              <a:t>Loan Lifecycle: Apply, Approve, Disburse, Repay → loan-service → transaction-service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300" spc="-1" strike="noStrike">
                <a:solidFill>
                  <a:schemeClr val="dk1"/>
                </a:solidFill>
                <a:latin typeface="Calibri"/>
              </a:rPr>
              <a:t>Card Operations: Requests handled via card-service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300" spc="-1" strike="noStrike">
                <a:solidFill>
                  <a:schemeClr val="dk1"/>
                </a:solidFill>
                <a:latin typeface="Calibri"/>
              </a:rPr>
              <a:t>Admin Aggregation: Admin portal → admin-service → calls user-service, loan-service, &amp; card-service</a:t>
            </a:r>
            <a:endParaRPr b="0" lang="en-IN" sz="2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Service Discovery: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 </a:t>
            </a:r>
            <a:r>
              <a:rPr b="1" lang="en-US" sz="2400" spc="-1" strike="noStrike">
                <a:solidFill>
                  <a:srgbClr val="1d1c1d"/>
                </a:solidFill>
                <a:latin typeface="Calibri"/>
              </a:rPr>
              <a:t>Eureka</a:t>
            </a:r>
            <a:r>
              <a:rPr b="0" lang="en-US" sz="2400" spc="-1" strike="noStrike">
                <a:solidFill>
                  <a:srgbClr val="1d1c1d"/>
                </a:solidFill>
                <a:latin typeface="Calibri"/>
              </a:rPr>
              <a:t> enables dynamic registration and discovery of all microservices , API Gateway routes requests dynamically based on service availability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Communication: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 Feign for critical operations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Monitoring: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 Postman for testing, monitoring and streaming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4229280" y="114480"/>
            <a:ext cx="9829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200000"/>
              </a:lnSpc>
            </a:pPr>
            <a:r>
              <a:rPr b="1" lang="en-IN" sz="4000" spc="-1" strike="noStrike">
                <a:solidFill>
                  <a:srgbClr val="0070c0"/>
                </a:solidFill>
                <a:latin typeface="Times New Roman"/>
              </a:rPr>
              <a:t>Architecture Flow &amp; Key Features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4"/>
          <p:cNvGrpSpPr/>
          <p:nvPr/>
        </p:nvGrpSpPr>
        <p:grpSpPr>
          <a:xfrm>
            <a:off x="17439120" y="9544320"/>
            <a:ext cx="336240" cy="209160"/>
            <a:chOff x="17439120" y="9544320"/>
            <a:chExt cx="336240" cy="209160"/>
          </a:xfrm>
        </p:grpSpPr>
        <p:sp>
          <p:nvSpPr>
            <p:cNvPr id="100" name="Freeform 5"/>
            <p:cNvSpPr/>
            <p:nvPr/>
          </p:nvSpPr>
          <p:spPr>
            <a:xfrm>
              <a:off x="17439120" y="9544320"/>
              <a:ext cx="336240" cy="209160"/>
            </a:xfrm>
            <a:custGeom>
              <a:avLst/>
              <a:gdLst>
                <a:gd name="textAreaLeft" fmla="*/ 0 w 336240"/>
                <a:gd name="textAreaRight" fmla="*/ 336960 w 336240"/>
                <a:gd name="textAreaTop" fmla="*/ 0 h 209160"/>
                <a:gd name="textAreaBottom" fmla="*/ 209880 h 209160"/>
              </a:gdLst>
              <a:ahLst/>
              <a:rect l="textAreaLeft" t="textAreaTop" r="textAreaRight" b="textAreaBottom"/>
              <a:pathLst>
                <a:path w="449326" h="279654">
                  <a:moveTo>
                    <a:pt x="0" y="0"/>
                  </a:moveTo>
                  <a:lnTo>
                    <a:pt x="449326" y="0"/>
                  </a:lnTo>
                  <a:lnTo>
                    <a:pt x="449326" y="279654"/>
                  </a:lnTo>
                  <a:lnTo>
                    <a:pt x="0" y="27965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1" name="TextBox 6"/>
          <p:cNvSpPr/>
          <p:nvPr/>
        </p:nvSpPr>
        <p:spPr>
          <a:xfrm>
            <a:off x="3229560" y="468720"/>
            <a:ext cx="118580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1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Key Components and features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6185880" y="3471480"/>
            <a:ext cx="21600" cy="20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658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03" name="Group 9"/>
          <p:cNvGrpSpPr/>
          <p:nvPr/>
        </p:nvGrpSpPr>
        <p:grpSpPr>
          <a:xfrm>
            <a:off x="0" y="9673920"/>
            <a:ext cx="9793440" cy="700200"/>
            <a:chOff x="0" y="9673920"/>
            <a:chExt cx="9793440" cy="700200"/>
          </a:xfrm>
        </p:grpSpPr>
        <p:sp>
          <p:nvSpPr>
            <p:cNvPr id="104" name="Freeform 10"/>
            <p:cNvSpPr/>
            <p:nvPr/>
          </p:nvSpPr>
          <p:spPr>
            <a:xfrm>
              <a:off x="0" y="970272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5" name="TextBox 11"/>
            <p:cNvSpPr/>
            <p:nvPr/>
          </p:nvSpPr>
          <p:spPr>
            <a:xfrm>
              <a:off x="0" y="967392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" name="Group 12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107" name="Freeform 13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8" name="TextBox 14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6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9" name="TextBox 15"/>
          <p:cNvSpPr/>
          <p:nvPr/>
        </p:nvSpPr>
        <p:spPr>
          <a:xfrm>
            <a:off x="760680" y="2111040"/>
            <a:ext cx="17038080" cy="53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3000" spc="-1" strike="noStrike">
                <a:solidFill>
                  <a:schemeClr val="dk1"/>
                </a:solidFill>
                <a:latin typeface="Arial"/>
              </a:rPr>
              <a:t>Admin Role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For bank employees (internal staff)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Access via admin-service (/admin/... endpoints)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Responsibilities: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Approve/reject KYC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Sanction loans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Manage users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Has full system access and visibility across services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6"/>
          <p:cNvSpPr/>
          <p:nvPr/>
        </p:nvSpPr>
        <p:spPr>
          <a:xfrm>
            <a:off x="3229560" y="468720"/>
            <a:ext cx="118580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1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Key Components and features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6185880" y="3471480"/>
            <a:ext cx="21600" cy="20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658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112" name="Group 12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113" name="Freeform 13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14" name="TextBox 14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6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5" name="TextBox 15"/>
          <p:cNvSpPr/>
          <p:nvPr/>
        </p:nvSpPr>
        <p:spPr>
          <a:xfrm>
            <a:off x="568800" y="1130400"/>
            <a:ext cx="1703808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3000" spc="-1" strike="noStrike">
                <a:solidFill>
                  <a:schemeClr val="dk1"/>
                </a:solidFill>
                <a:latin typeface="Arial"/>
              </a:rPr>
              <a:t>Customer Role 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1281240" y="2334240"/>
            <a:ext cx="13410360" cy="709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For bank customers (end-users)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Access via loan-service, user-services, etc.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Capabilities (if KYC verified):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Manage accounts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Perform transactions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Apply for loans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View personal data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1d1c1d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d1c1d"/>
                </a:solidFill>
                <a:latin typeface="Calibri"/>
              </a:rPr>
              <a:t>Apply for cards(debit and credit),</a:t>
            </a:r>
            <a:r>
              <a:rPr b="0" lang="en-IN" sz="2600" spc="-1" strike="noStrike">
                <a:solidFill>
                  <a:srgbClr val="1d1c1d"/>
                </a:solidFill>
                <a:latin typeface="Calibri"/>
              </a:rPr>
              <a:t> set and change PIN, </a:t>
            </a:r>
            <a:r>
              <a:rPr b="0" lang="en-US" sz="2600" spc="-1" strike="noStrike">
                <a:solidFill>
                  <a:srgbClr val="1d1c1d"/>
                </a:solidFill>
                <a:latin typeface="Calibri"/>
              </a:rPr>
              <a:t>Set the limit usage for cards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Access is limited to own data only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1d1c1d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1d1c1d"/>
                </a:solidFill>
                <a:latin typeface="Calibri"/>
              </a:rPr>
              <a:t>Can repay for loans based on the repayment schedule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2600"/>
            </a:b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0" y="0"/>
            <a:ext cx="18282600" cy="10286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685800" y="1407240"/>
            <a:ext cx="17372880" cy="862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 marL="343080" indent="-34308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IN" sz="2800" spc="-1" strike="noStrike">
                <a:solidFill>
                  <a:schemeClr val="dk1"/>
                </a:solidFill>
                <a:latin typeface="Calibri"/>
              </a:rPr>
              <a:t>Spring Cloud Ecosystem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Netflix Eureka (Service Registry)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2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Eureka-server enables dynamic service registration/discovery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2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All microservices (loan, admin, user, etc.) act as Eureka clients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OpenFeign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2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Declarative REST client for inter-service communication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2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Simplifies HTTP calls between microservices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Spring Cloud LoadBalancer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2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Client-side load balancing for Feign/RestTemplate calls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2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Replaces Ribbon for load distribution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50000"/>
              </a:lnSpc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356360" y="505800"/>
            <a:ext cx="10654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3600" spc="-1" strike="noStrike">
                <a:solidFill>
                  <a:srgbClr val="0070c0"/>
                </a:solidFill>
                <a:latin typeface="Times New Roman"/>
              </a:rPr>
              <a:t>Key Technologies in Our Microservices Architecture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0" y="0"/>
            <a:ext cx="18282600" cy="10286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ectangle 4"/>
          <p:cNvSpPr/>
          <p:nvPr/>
        </p:nvSpPr>
        <p:spPr>
          <a:xfrm>
            <a:off x="805320" y="1872000"/>
            <a:ext cx="16676280" cy="67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IN" sz="2600" spc="-1" strike="noStrike">
                <a:solidFill>
                  <a:schemeClr val="dk1"/>
                </a:solidFill>
                <a:latin typeface="Arial"/>
              </a:rPr>
              <a:t>Spring Cloud Ecosystem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Spring Data JPA + Hibernate ORM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Times New Roman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DeclarativeUsed for entity mapping and database access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Abstracts complex SQL via repositories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Oracle Database (OracleDialect)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Primary database engine; Oracle 19c-style configs used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Optimized for enterprise-scale data persistence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Oracle JDBC Driver (ojdbc8/ojdbc11)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Times New Roman"/>
              </a:rPr>
              <a:t>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Provides connectivity to Oracle DB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HikariCP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High-performance JDBC connection pool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Used as the default DataSource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356360" y="505800"/>
            <a:ext cx="10654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3600" spc="-1" strike="noStrike">
                <a:solidFill>
                  <a:srgbClr val="0070c0"/>
                </a:solidFill>
                <a:latin typeface="Times New Roman"/>
              </a:rPr>
              <a:t>Key Technologies in Our Microservices Architecture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0" y="0"/>
            <a:ext cx="18282600" cy="10286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ectangle 4"/>
          <p:cNvSpPr/>
          <p:nvPr/>
        </p:nvSpPr>
        <p:spPr>
          <a:xfrm>
            <a:off x="838080" y="3127320"/>
            <a:ext cx="16643520" cy="46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1d1c1d"/>
              </a:buClr>
              <a:buFont typeface="Wingdings" charset="2"/>
              <a:buChar char=""/>
            </a:pPr>
            <a:r>
              <a:rPr b="1" lang="en-IN" sz="2800" spc="-1" strike="noStrike">
                <a:solidFill>
                  <a:srgbClr val="1d1c1d"/>
                </a:solidFill>
                <a:latin typeface="Calibri"/>
              </a:rPr>
              <a:t>Code &amp; Configuration Helpers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Lombok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5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Reduces boilerplate (e.g., @Data, @Builder)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SnakeYAML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5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Parses YAML configuration files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chemeClr val="dk1"/>
                </a:solidFill>
                <a:latin typeface="Calibri"/>
              </a:rPr>
              <a:t>Testing Frameworks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Spring Boot Starter Test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5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Combines all testing utilities for Spring apps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4356360" y="505800"/>
            <a:ext cx="10654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3600" spc="-1" strike="noStrike">
                <a:solidFill>
                  <a:srgbClr val="0070c0"/>
                </a:solidFill>
                <a:latin typeface="Times New Roman"/>
              </a:rPr>
              <a:t>Key Technologies in Our Microservices Architecture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0" y="0"/>
            <a:ext cx="18282600" cy="10286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805320" y="1218960"/>
            <a:ext cx="16676280" cy="84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IN" sz="2600" spc="-1" strike="noStrike">
                <a:solidFill>
                  <a:schemeClr val="dk1"/>
                </a:solidFill>
                <a:latin typeface="Arial"/>
              </a:rPr>
              <a:t>Web Layer &amp; JSON Handling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Embedded Tomcat 10.1.x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algn="just" defTabSz="914400">
              <a:lnSpc>
                <a:spcPct val="15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Bundled web server for running Spring Boot apps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Jackson 2.18.x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Times New Roman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JSON serialization/deserialization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Converts Java objects to/from JSON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RestTemplate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algn="just" defTabSz="914400">
              <a:lnSpc>
                <a:spcPct val="150000"/>
              </a:lnSpc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Still used internally (e.g., by Eureka clients)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1d1c1d"/>
              </a:buClr>
              <a:buFont typeface="Wingdings" charset="2"/>
              <a:buChar char=""/>
            </a:pPr>
            <a:r>
              <a:rPr b="1" lang="en-IN" sz="2600" spc="-1" strike="noStrike">
                <a:solidFill>
                  <a:srgbClr val="1d1c1d"/>
                </a:solidFill>
                <a:latin typeface="Arial"/>
              </a:rPr>
              <a:t>Observability &amp; Logging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720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Spring Boot Actuator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5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Exposes health, metrics, and info endpoints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Micrometer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914400" defTabSz="914400">
              <a:lnSpc>
                <a:spcPct val="15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Metrics collection abstraction (used with Actuator)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SLF4J + Logback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5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    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Unified logging framework across services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4419720" y="420480"/>
            <a:ext cx="10654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3600" spc="-1" strike="noStrike">
                <a:solidFill>
                  <a:srgbClr val="0070c0"/>
                </a:solidFill>
                <a:latin typeface="Times New Roman"/>
              </a:rPr>
              <a:t>Key Technologies in Our Microservices Architecture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4"/>
          <p:cNvSpPr/>
          <p:nvPr/>
        </p:nvSpPr>
        <p:spPr>
          <a:xfrm>
            <a:off x="7874280" y="319680"/>
            <a:ext cx="31615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98"/>
              </a:lnSpc>
            </a:pPr>
            <a:r>
              <a:rPr b="1" lang="en-US" sz="3200" spc="-46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Project Structure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roup 12"/>
          <p:cNvGrpSpPr/>
          <p:nvPr/>
        </p:nvGrpSpPr>
        <p:grpSpPr>
          <a:xfrm>
            <a:off x="0" y="9727200"/>
            <a:ext cx="9793440" cy="700200"/>
            <a:chOff x="0" y="9727200"/>
            <a:chExt cx="9793440" cy="700200"/>
          </a:xfrm>
        </p:grpSpPr>
        <p:sp>
          <p:nvSpPr>
            <p:cNvPr id="131" name="Freeform 13"/>
            <p:cNvSpPr/>
            <p:nvPr/>
          </p:nvSpPr>
          <p:spPr>
            <a:xfrm>
              <a:off x="0" y="975564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32" name="TextBox 14"/>
            <p:cNvSpPr/>
            <p:nvPr/>
          </p:nvSpPr>
          <p:spPr>
            <a:xfrm>
              <a:off x="0" y="97272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3" name="Picture 18" descr=""/>
          <p:cNvPicPr/>
          <p:nvPr/>
        </p:nvPicPr>
        <p:blipFill>
          <a:blip r:embed="rId1"/>
          <a:stretch/>
        </p:blipFill>
        <p:spPr>
          <a:xfrm>
            <a:off x="1048680" y="1714320"/>
            <a:ext cx="4441680" cy="645804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20" descr=""/>
          <p:cNvPicPr/>
          <p:nvPr/>
        </p:nvPicPr>
        <p:blipFill>
          <a:blip r:embed="rId2"/>
          <a:stretch/>
        </p:blipFill>
        <p:spPr>
          <a:xfrm>
            <a:off x="6783480" y="1714680"/>
            <a:ext cx="4707360" cy="644652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22" descr=""/>
          <p:cNvPicPr/>
          <p:nvPr/>
        </p:nvPicPr>
        <p:blipFill>
          <a:blip r:embed="rId3"/>
          <a:stretch/>
        </p:blipFill>
        <p:spPr>
          <a:xfrm>
            <a:off x="13070160" y="1714680"/>
            <a:ext cx="4074120" cy="6458040"/>
          </a:xfrm>
          <a:prstGeom prst="rect">
            <a:avLst/>
          </a:prstGeom>
          <a:ln w="0">
            <a:noFill/>
          </a:ln>
        </p:spPr>
      </p:pic>
      <p:sp>
        <p:nvSpPr>
          <p:cNvPr id="136" name="TextBox 24"/>
          <p:cNvSpPr/>
          <p:nvPr/>
        </p:nvSpPr>
        <p:spPr>
          <a:xfrm>
            <a:off x="2286000" y="8511480"/>
            <a:ext cx="3047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Project Structure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46"/>
          <p:cNvSpPr/>
          <p:nvPr/>
        </p:nvSpPr>
        <p:spPr>
          <a:xfrm>
            <a:off x="8077320" y="8508600"/>
            <a:ext cx="2755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Account Microservice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48"/>
          <p:cNvSpPr/>
          <p:nvPr/>
        </p:nvSpPr>
        <p:spPr>
          <a:xfrm>
            <a:off x="13992840" y="8508600"/>
            <a:ext cx="2229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Admin Microservice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2"/>
          <p:cNvGrpSpPr/>
          <p:nvPr/>
        </p:nvGrpSpPr>
        <p:grpSpPr>
          <a:xfrm>
            <a:off x="0" y="9727200"/>
            <a:ext cx="9793440" cy="700200"/>
            <a:chOff x="0" y="9727200"/>
            <a:chExt cx="9793440" cy="700200"/>
          </a:xfrm>
        </p:grpSpPr>
        <p:sp>
          <p:nvSpPr>
            <p:cNvPr id="140" name="Freeform 13"/>
            <p:cNvSpPr/>
            <p:nvPr/>
          </p:nvSpPr>
          <p:spPr>
            <a:xfrm>
              <a:off x="0" y="975564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1" name="TextBox 14"/>
            <p:cNvSpPr/>
            <p:nvPr/>
          </p:nvSpPr>
          <p:spPr>
            <a:xfrm>
              <a:off x="0" y="97272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" name="Group 15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143" name="Freeform 16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44" name="TextBox 17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8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45" name="Picture 17" descr=""/>
          <p:cNvPicPr/>
          <p:nvPr/>
        </p:nvPicPr>
        <p:blipFill>
          <a:blip r:embed="rId1"/>
          <a:stretch/>
        </p:blipFill>
        <p:spPr>
          <a:xfrm>
            <a:off x="1162440" y="1752480"/>
            <a:ext cx="4399560" cy="678096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21" descr=""/>
          <p:cNvPicPr/>
          <p:nvPr/>
        </p:nvPicPr>
        <p:blipFill>
          <a:blip r:embed="rId2"/>
          <a:stretch/>
        </p:blipFill>
        <p:spPr>
          <a:xfrm>
            <a:off x="12564360" y="1670040"/>
            <a:ext cx="4275360" cy="678096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24" descr=""/>
          <p:cNvPicPr/>
          <p:nvPr/>
        </p:nvPicPr>
        <p:blipFill>
          <a:blip r:embed="rId3"/>
          <a:stretch/>
        </p:blipFill>
        <p:spPr>
          <a:xfrm>
            <a:off x="6786720" y="1752480"/>
            <a:ext cx="4399560" cy="6780960"/>
          </a:xfrm>
          <a:prstGeom prst="rect">
            <a:avLst/>
          </a:prstGeom>
          <a:ln w="0">
            <a:noFill/>
          </a:ln>
        </p:spPr>
      </p:pic>
      <p:sp>
        <p:nvSpPr>
          <p:cNvPr id="148" name="TextBox 26"/>
          <p:cNvSpPr/>
          <p:nvPr/>
        </p:nvSpPr>
        <p:spPr>
          <a:xfrm>
            <a:off x="1915200" y="8619120"/>
            <a:ext cx="2666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Loan Microservice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28"/>
          <p:cNvSpPr/>
          <p:nvPr/>
        </p:nvSpPr>
        <p:spPr>
          <a:xfrm>
            <a:off x="7422480" y="8619120"/>
            <a:ext cx="3549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Transaction Microservice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30"/>
          <p:cNvSpPr/>
          <p:nvPr/>
        </p:nvSpPr>
        <p:spPr>
          <a:xfrm>
            <a:off x="12943800" y="8616960"/>
            <a:ext cx="2752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User Service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7625520" y="343080"/>
            <a:ext cx="30358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98"/>
              </a:lnSpc>
            </a:pPr>
            <a:r>
              <a:rPr b="1" lang="en-US" sz="3200" spc="-46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Project Structure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2"/>
          <p:cNvGrpSpPr/>
          <p:nvPr/>
        </p:nvGrpSpPr>
        <p:grpSpPr>
          <a:xfrm>
            <a:off x="0" y="9727200"/>
            <a:ext cx="9793440" cy="700200"/>
            <a:chOff x="0" y="9727200"/>
            <a:chExt cx="9793440" cy="700200"/>
          </a:xfrm>
        </p:grpSpPr>
        <p:sp>
          <p:nvSpPr>
            <p:cNvPr id="153" name="Freeform 13"/>
            <p:cNvSpPr/>
            <p:nvPr/>
          </p:nvSpPr>
          <p:spPr>
            <a:xfrm>
              <a:off x="0" y="975564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4" name="TextBox 14"/>
            <p:cNvSpPr/>
            <p:nvPr/>
          </p:nvSpPr>
          <p:spPr>
            <a:xfrm>
              <a:off x="0" y="97272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5" name="Group 15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156" name="Freeform 16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57" name="TextBox 17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8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58" name="Picture 19" descr=""/>
          <p:cNvPicPr/>
          <p:nvPr/>
        </p:nvPicPr>
        <p:blipFill>
          <a:blip r:embed="rId1"/>
          <a:stretch/>
        </p:blipFill>
        <p:spPr>
          <a:xfrm>
            <a:off x="10626120" y="1714680"/>
            <a:ext cx="4994280" cy="540936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23" descr=""/>
          <p:cNvPicPr/>
          <p:nvPr/>
        </p:nvPicPr>
        <p:blipFill>
          <a:blip r:embed="rId2"/>
          <a:stretch/>
        </p:blipFill>
        <p:spPr>
          <a:xfrm>
            <a:off x="2545560" y="1460160"/>
            <a:ext cx="4259880" cy="6425640"/>
          </a:xfrm>
          <a:prstGeom prst="rect">
            <a:avLst/>
          </a:prstGeom>
          <a:ln w="0">
            <a:noFill/>
          </a:ln>
        </p:spPr>
      </p:pic>
      <p:sp>
        <p:nvSpPr>
          <p:cNvPr id="160" name="TextBox 26"/>
          <p:cNvSpPr/>
          <p:nvPr/>
        </p:nvSpPr>
        <p:spPr>
          <a:xfrm>
            <a:off x="3027960" y="8480520"/>
            <a:ext cx="3600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Credit card Microservice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28"/>
          <p:cNvSpPr/>
          <p:nvPr/>
        </p:nvSpPr>
        <p:spPr>
          <a:xfrm>
            <a:off x="11057040" y="8480520"/>
            <a:ext cx="3760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Eureka - Server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7677000" y="190440"/>
            <a:ext cx="293292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98"/>
              </a:lnSpc>
            </a:pPr>
            <a:r>
              <a:rPr b="1" lang="en-US" sz="3200" spc="-46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Project Structure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2"/>
          <p:cNvGrpSpPr/>
          <p:nvPr/>
        </p:nvGrpSpPr>
        <p:grpSpPr>
          <a:xfrm>
            <a:off x="0" y="9727200"/>
            <a:ext cx="9793440" cy="700200"/>
            <a:chOff x="0" y="9727200"/>
            <a:chExt cx="9793440" cy="700200"/>
          </a:xfrm>
        </p:grpSpPr>
        <p:sp>
          <p:nvSpPr>
            <p:cNvPr id="164" name="Freeform 13"/>
            <p:cNvSpPr/>
            <p:nvPr/>
          </p:nvSpPr>
          <p:spPr>
            <a:xfrm>
              <a:off x="0" y="975564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5" name="TextBox 14"/>
            <p:cNvSpPr/>
            <p:nvPr/>
          </p:nvSpPr>
          <p:spPr>
            <a:xfrm>
              <a:off x="0" y="97272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6" name="Group 15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167" name="Freeform 16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68" name="TextBox 17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8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9" name="TextBox 26"/>
          <p:cNvSpPr/>
          <p:nvPr/>
        </p:nvSpPr>
        <p:spPr>
          <a:xfrm>
            <a:off x="6516720" y="8808840"/>
            <a:ext cx="4693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Times New Roman"/>
              </a:rPr>
              <a:t>Bank App Frontend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7396920" y="177120"/>
            <a:ext cx="293292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98"/>
              </a:lnSpc>
            </a:pPr>
            <a:r>
              <a:rPr b="1" lang="en-US" sz="3200" spc="-46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Project Structure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Picture 3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6516720" y="1272240"/>
            <a:ext cx="4703400" cy="716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3"/>
          <p:cNvSpPr/>
          <p:nvPr/>
        </p:nvSpPr>
        <p:spPr>
          <a:xfrm>
            <a:off x="5486400" y="338040"/>
            <a:ext cx="601920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800" spc="-43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Database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3" name="Group 10"/>
          <p:cNvGrpSpPr/>
          <p:nvPr/>
        </p:nvGrpSpPr>
        <p:grpSpPr>
          <a:xfrm>
            <a:off x="0" y="9727200"/>
            <a:ext cx="9793440" cy="700200"/>
            <a:chOff x="0" y="9727200"/>
            <a:chExt cx="9793440" cy="700200"/>
          </a:xfrm>
        </p:grpSpPr>
        <p:sp>
          <p:nvSpPr>
            <p:cNvPr id="174" name="Freeform 11"/>
            <p:cNvSpPr/>
            <p:nvPr/>
          </p:nvSpPr>
          <p:spPr>
            <a:xfrm>
              <a:off x="0" y="975564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5" name="TextBox 12"/>
            <p:cNvSpPr/>
            <p:nvPr/>
          </p:nvSpPr>
          <p:spPr>
            <a:xfrm>
              <a:off x="0" y="97272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" name="Group 13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177" name="Freeform 14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78" name="TextBox 15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9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79" name="Picture 16" descr=""/>
          <p:cNvPicPr/>
          <p:nvPr/>
        </p:nvPicPr>
        <p:blipFill>
          <a:blip r:embed="rId1"/>
          <a:srcRect l="0" t="33" r="0" b="33"/>
          <a:stretch/>
        </p:blipFill>
        <p:spPr>
          <a:xfrm>
            <a:off x="6912720" y="4152960"/>
            <a:ext cx="4461480" cy="4342680"/>
          </a:xfrm>
          <a:prstGeom prst="rect">
            <a:avLst/>
          </a:prstGeom>
          <a:ln w="0">
            <a:noFill/>
          </a:ln>
        </p:spPr>
      </p:pic>
      <p:sp>
        <p:nvSpPr>
          <p:cNvPr id="180" name="TextBox 18"/>
          <p:cNvSpPr/>
          <p:nvPr/>
        </p:nvSpPr>
        <p:spPr>
          <a:xfrm>
            <a:off x="543240" y="1948320"/>
            <a:ext cx="1689516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1d1c1d"/>
                </a:solidFill>
                <a:latin typeface="Slack-Lato"/>
              </a:rPr>
              <a:t>The project employs a </a:t>
            </a:r>
            <a:r>
              <a:rPr b="1" lang="en-US" sz="2400" spc="-1" strike="noStrike">
                <a:solidFill>
                  <a:srgbClr val="1d1c1d"/>
                </a:solidFill>
                <a:latin typeface="Slack-Lato"/>
              </a:rPr>
              <a:t>polyglot persistence</a:t>
            </a:r>
            <a:r>
              <a:rPr b="0" lang="en-US" sz="2400" spc="-1" strike="noStrike">
                <a:solidFill>
                  <a:srgbClr val="1d1c1d"/>
                </a:solidFill>
                <a:latin typeface="Slack-Lato"/>
              </a:rPr>
              <a:t> approach, with each microservice managing its own dedicated database schema. Core data is stored in </a:t>
            </a:r>
            <a:r>
              <a:rPr b="1" lang="en-US" sz="2400" spc="-1" strike="noStrike">
                <a:solidFill>
                  <a:srgbClr val="1d1c1d"/>
                </a:solidFill>
                <a:latin typeface="Slack-Lato"/>
              </a:rPr>
              <a:t>Oracle databases</a:t>
            </a:r>
            <a:r>
              <a:rPr b="0" lang="en-US" sz="2400" spc="-1" strike="noStrike">
                <a:solidFill>
                  <a:srgbClr val="1d1c1d"/>
                </a:solidFill>
                <a:latin typeface="Slack-Lato"/>
              </a:rPr>
              <a:t> for their proven reliability and strong transactional integrity. The persistence layer leverages </a:t>
            </a:r>
            <a:r>
              <a:rPr b="1" lang="en-US" sz="2400" spc="-1" strike="noStrike">
                <a:solidFill>
                  <a:srgbClr val="1d1c1d"/>
                </a:solidFill>
                <a:latin typeface="Slack-Lato"/>
              </a:rPr>
              <a:t>JPA and Hibernate</a:t>
            </a:r>
            <a:r>
              <a:rPr b="0" lang="en-US" sz="2400" spc="-1" strike="noStrike">
                <a:solidFill>
                  <a:srgbClr val="1d1c1d"/>
                </a:solidFill>
                <a:latin typeface="Slack-Lato"/>
              </a:rPr>
              <a:t> to efficiently map Java entities to database tables. This design promotes </a:t>
            </a:r>
            <a:r>
              <a:rPr b="1" lang="en-US" sz="2400" spc="-1" strike="noStrike">
                <a:solidFill>
                  <a:srgbClr val="1d1c1d"/>
                </a:solidFill>
                <a:latin typeface="Slack-Lato"/>
              </a:rPr>
              <a:t>service independence</a:t>
            </a:r>
            <a:r>
              <a:rPr b="0" lang="en-US" sz="2400" spc="-1" strike="noStrike">
                <a:solidFill>
                  <a:srgbClr val="1d1c1d"/>
                </a:solidFill>
                <a:latin typeface="Slack-Lato"/>
              </a:rPr>
              <a:t>, reduces coupling, and enhances overall scalability.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4"/>
          <p:cNvSpPr/>
          <p:nvPr/>
        </p:nvSpPr>
        <p:spPr>
          <a:xfrm>
            <a:off x="4267080" y="370440"/>
            <a:ext cx="93718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46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Database Tables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2" name="Group 12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183" name="Freeform 13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4" name="TextBox 14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5" name="Group 15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186" name="Freeform 16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7" name="TextBox 17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10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88" name="Picture 1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752480" y="1830960"/>
            <a:ext cx="14401080" cy="216900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20" descr=""/>
          <p:cNvPicPr/>
          <p:nvPr/>
        </p:nvPicPr>
        <p:blipFill>
          <a:blip r:embed="rId3"/>
          <a:stretch/>
        </p:blipFill>
        <p:spPr>
          <a:xfrm>
            <a:off x="1752480" y="4533840"/>
            <a:ext cx="14401080" cy="3696840"/>
          </a:xfrm>
          <a:prstGeom prst="rect">
            <a:avLst/>
          </a:prstGeom>
          <a:ln w="0">
            <a:noFill/>
          </a:ln>
        </p:spPr>
      </p:pic>
      <p:sp>
        <p:nvSpPr>
          <p:cNvPr id="190" name="TextBox 1"/>
          <p:cNvSpPr/>
          <p:nvPr/>
        </p:nvSpPr>
        <p:spPr>
          <a:xfrm>
            <a:off x="7315200" y="1151640"/>
            <a:ext cx="3276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Accounts Database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21"/>
          <p:cNvSpPr/>
          <p:nvPr/>
        </p:nvSpPr>
        <p:spPr>
          <a:xfrm>
            <a:off x="7086600" y="369468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Accounts Data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22"/>
          <p:cNvSpPr/>
          <p:nvPr/>
        </p:nvSpPr>
        <p:spPr>
          <a:xfrm>
            <a:off x="7162920" y="830304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Accounts Structure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4"/>
          <p:cNvSpPr/>
          <p:nvPr/>
        </p:nvSpPr>
        <p:spPr>
          <a:xfrm>
            <a:off x="4267080" y="370440"/>
            <a:ext cx="93718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46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Database Tables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4" name="Group 12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195" name="Freeform 13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6" name="TextBox 14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7" name="Group 15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198" name="Freeform 16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9" name="TextBox 17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10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0" name="Picture 18" descr=""/>
          <p:cNvPicPr/>
          <p:nvPr/>
        </p:nvPicPr>
        <p:blipFill>
          <a:blip r:embed="rId1"/>
          <a:stretch/>
        </p:blipFill>
        <p:spPr>
          <a:xfrm>
            <a:off x="1600200" y="1830960"/>
            <a:ext cx="14401080" cy="2169000"/>
          </a:xfrm>
          <a:prstGeom prst="rect">
            <a:avLst/>
          </a:prstGeom>
          <a:ln w="0">
            <a:noFill/>
          </a:ln>
        </p:spPr>
      </p:pic>
      <p:pic>
        <p:nvPicPr>
          <p:cNvPr id="201" name="Picture 20" descr=""/>
          <p:cNvPicPr/>
          <p:nvPr/>
        </p:nvPicPr>
        <p:blipFill>
          <a:blip r:embed="rId2"/>
          <a:stretch/>
        </p:blipFill>
        <p:spPr>
          <a:xfrm>
            <a:off x="1936440" y="4790160"/>
            <a:ext cx="14033160" cy="3440880"/>
          </a:xfrm>
          <a:prstGeom prst="rect">
            <a:avLst/>
          </a:prstGeom>
          <a:ln w="0">
            <a:noFill/>
          </a:ln>
        </p:spPr>
      </p:pic>
      <p:sp>
        <p:nvSpPr>
          <p:cNvPr id="202" name="TextBox 1"/>
          <p:cNvSpPr/>
          <p:nvPr/>
        </p:nvSpPr>
        <p:spPr>
          <a:xfrm>
            <a:off x="7315200" y="1151640"/>
            <a:ext cx="3276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Loans Database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21"/>
          <p:cNvSpPr/>
          <p:nvPr/>
        </p:nvSpPr>
        <p:spPr>
          <a:xfrm>
            <a:off x="7010280" y="412956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Loans Data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22"/>
          <p:cNvSpPr/>
          <p:nvPr/>
        </p:nvSpPr>
        <p:spPr>
          <a:xfrm>
            <a:off x="7010280" y="826020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Loans Structure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4"/>
          <p:cNvSpPr/>
          <p:nvPr/>
        </p:nvSpPr>
        <p:spPr>
          <a:xfrm>
            <a:off x="4267080" y="370440"/>
            <a:ext cx="93718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46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Database Tables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6" name="Group 12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207" name="Freeform 13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08" name="TextBox 14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9" name="Group 15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210" name="Freeform 16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11" name="TextBox 17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10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12" name="Picture 1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600200" y="2074320"/>
            <a:ext cx="14401080" cy="1681560"/>
          </a:xfrm>
          <a:prstGeom prst="rect">
            <a:avLst/>
          </a:prstGeom>
          <a:ln w="0">
            <a:noFill/>
          </a:ln>
        </p:spPr>
      </p:pic>
      <p:pic>
        <p:nvPicPr>
          <p:cNvPr id="213" name="Picture 20" descr="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600200" y="4790160"/>
            <a:ext cx="14401080" cy="3440880"/>
          </a:xfrm>
          <a:prstGeom prst="rect">
            <a:avLst/>
          </a:prstGeom>
          <a:ln w="0">
            <a:noFill/>
          </a:ln>
        </p:spPr>
      </p:pic>
      <p:sp>
        <p:nvSpPr>
          <p:cNvPr id="214" name="TextBox 1"/>
          <p:cNvSpPr/>
          <p:nvPr/>
        </p:nvSpPr>
        <p:spPr>
          <a:xfrm>
            <a:off x="6324480" y="1151640"/>
            <a:ext cx="4876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Users Database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21"/>
          <p:cNvSpPr/>
          <p:nvPr/>
        </p:nvSpPr>
        <p:spPr>
          <a:xfrm>
            <a:off x="7010280" y="399096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Users Data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22"/>
          <p:cNvSpPr/>
          <p:nvPr/>
        </p:nvSpPr>
        <p:spPr>
          <a:xfrm>
            <a:off x="7162920" y="845388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Users Structure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4"/>
          <p:cNvSpPr/>
          <p:nvPr/>
        </p:nvSpPr>
        <p:spPr>
          <a:xfrm>
            <a:off x="4267080" y="370440"/>
            <a:ext cx="93718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46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Database Tables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8" name="Group 12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219" name="Freeform 13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0" name="TextBox 14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1" name="Group 15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222" name="Freeform 16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23" name="TextBox 17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10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24" name="Picture 18" descr=""/>
          <p:cNvPicPr/>
          <p:nvPr/>
        </p:nvPicPr>
        <p:blipFill>
          <a:blip r:embed="rId1"/>
          <a:stretch/>
        </p:blipFill>
        <p:spPr>
          <a:xfrm>
            <a:off x="3772080" y="2013480"/>
            <a:ext cx="9752760" cy="1681560"/>
          </a:xfrm>
          <a:prstGeom prst="rect">
            <a:avLst/>
          </a:prstGeom>
          <a:ln w="0">
            <a:noFill/>
          </a:ln>
        </p:spPr>
      </p:pic>
      <p:pic>
        <p:nvPicPr>
          <p:cNvPr id="225" name="Picture 20" descr=""/>
          <p:cNvPicPr/>
          <p:nvPr/>
        </p:nvPicPr>
        <p:blipFill>
          <a:blip r:embed="rId2"/>
          <a:stretch/>
        </p:blipFill>
        <p:spPr>
          <a:xfrm>
            <a:off x="1943280" y="5147280"/>
            <a:ext cx="14401080" cy="2935080"/>
          </a:xfrm>
          <a:prstGeom prst="rect">
            <a:avLst/>
          </a:prstGeom>
          <a:ln w="0">
            <a:noFill/>
          </a:ln>
        </p:spPr>
      </p:pic>
      <p:sp>
        <p:nvSpPr>
          <p:cNvPr id="226" name="TextBox 1"/>
          <p:cNvSpPr/>
          <p:nvPr/>
        </p:nvSpPr>
        <p:spPr>
          <a:xfrm>
            <a:off x="5715000" y="1151640"/>
            <a:ext cx="5485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Users Password Database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21"/>
          <p:cNvSpPr/>
          <p:nvPr/>
        </p:nvSpPr>
        <p:spPr>
          <a:xfrm>
            <a:off x="7010280" y="405504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Users Password Data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22"/>
          <p:cNvSpPr/>
          <p:nvPr/>
        </p:nvSpPr>
        <p:spPr>
          <a:xfrm>
            <a:off x="6667560" y="8569080"/>
            <a:ext cx="396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Users Password Structure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4"/>
          <p:cNvSpPr/>
          <p:nvPr/>
        </p:nvSpPr>
        <p:spPr>
          <a:xfrm>
            <a:off x="4267080" y="370440"/>
            <a:ext cx="93718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46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Database Tables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0" name="Group 12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231" name="Freeform 13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2" name="TextBox 14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" name="Group 15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234" name="Freeform 16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35" name="TextBox 17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10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36" name="Picture 18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2666880" y="1785600"/>
            <a:ext cx="12800880" cy="2518920"/>
          </a:xfrm>
          <a:prstGeom prst="rect">
            <a:avLst/>
          </a:prstGeom>
          <a:ln w="0">
            <a:noFill/>
          </a:ln>
        </p:spPr>
      </p:pic>
      <p:pic>
        <p:nvPicPr>
          <p:cNvPr id="237" name="Picture 20" descr=""/>
          <p:cNvPicPr/>
          <p:nvPr/>
        </p:nvPicPr>
        <p:blipFill>
          <a:blip r:embed="rId3"/>
          <a:stretch/>
        </p:blipFill>
        <p:spPr>
          <a:xfrm>
            <a:off x="3657600" y="5306400"/>
            <a:ext cx="10286280" cy="3087360"/>
          </a:xfrm>
          <a:prstGeom prst="rect">
            <a:avLst/>
          </a:prstGeom>
          <a:ln w="0">
            <a:noFill/>
          </a:ln>
        </p:spPr>
      </p:pic>
      <p:sp>
        <p:nvSpPr>
          <p:cNvPr id="238" name="TextBox 1"/>
          <p:cNvSpPr/>
          <p:nvPr/>
        </p:nvSpPr>
        <p:spPr>
          <a:xfrm>
            <a:off x="6324480" y="1151640"/>
            <a:ext cx="4876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Transactions Database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21"/>
          <p:cNvSpPr/>
          <p:nvPr/>
        </p:nvSpPr>
        <p:spPr>
          <a:xfrm>
            <a:off x="7162920" y="452808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Transactions Data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22"/>
          <p:cNvSpPr/>
          <p:nvPr/>
        </p:nvSpPr>
        <p:spPr>
          <a:xfrm>
            <a:off x="7162920" y="862812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Transactions Structure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4"/>
          <p:cNvSpPr/>
          <p:nvPr/>
        </p:nvSpPr>
        <p:spPr>
          <a:xfrm>
            <a:off x="4267080" y="370440"/>
            <a:ext cx="93718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46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Database Tables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2" name="Group 12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243" name="Freeform 13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4" name="TextBox 14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5" name="Group 15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246" name="Freeform 16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47" name="TextBox 17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10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48" name="Picture 18" descr=""/>
          <p:cNvPicPr/>
          <p:nvPr/>
        </p:nvPicPr>
        <p:blipFill>
          <a:blip r:embed="rId1"/>
          <a:stretch/>
        </p:blipFill>
        <p:spPr>
          <a:xfrm>
            <a:off x="1600200" y="2074320"/>
            <a:ext cx="14401080" cy="1681560"/>
          </a:xfrm>
          <a:prstGeom prst="rect">
            <a:avLst/>
          </a:prstGeom>
          <a:ln w="0">
            <a:noFill/>
          </a:ln>
        </p:spPr>
      </p:pic>
      <p:pic>
        <p:nvPicPr>
          <p:cNvPr id="249" name="Picture 20" descr=""/>
          <p:cNvPicPr/>
          <p:nvPr/>
        </p:nvPicPr>
        <p:blipFill>
          <a:blip r:embed="rId2"/>
          <a:stretch/>
        </p:blipFill>
        <p:spPr>
          <a:xfrm>
            <a:off x="4267080" y="4790160"/>
            <a:ext cx="9143280" cy="3440880"/>
          </a:xfrm>
          <a:prstGeom prst="rect">
            <a:avLst/>
          </a:prstGeom>
          <a:ln w="0">
            <a:noFill/>
          </a:ln>
        </p:spPr>
      </p:pic>
      <p:sp>
        <p:nvSpPr>
          <p:cNvPr id="250" name="TextBox 1"/>
          <p:cNvSpPr/>
          <p:nvPr/>
        </p:nvSpPr>
        <p:spPr>
          <a:xfrm>
            <a:off x="6324480" y="1151640"/>
            <a:ext cx="4876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en-IN" sz="2800" spc="-1" strike="noStrike">
                <a:solidFill>
                  <a:schemeClr val="dk1"/>
                </a:solidFill>
                <a:latin typeface="Arial"/>
              </a:rPr>
              <a:t>Cards Database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7010280" y="399096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Cards Data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22"/>
          <p:cNvSpPr/>
          <p:nvPr/>
        </p:nvSpPr>
        <p:spPr>
          <a:xfrm>
            <a:off x="7162920" y="8453880"/>
            <a:ext cx="3276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IN" sz="2400" spc="-1" strike="noStrike">
                <a:solidFill>
                  <a:schemeClr val="dk1"/>
                </a:solidFill>
                <a:latin typeface="Arial"/>
              </a:rPr>
              <a:t>Cards Structure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Box 8"/>
          <p:cNvSpPr/>
          <p:nvPr/>
        </p:nvSpPr>
        <p:spPr>
          <a:xfrm>
            <a:off x="1387080" y="661680"/>
            <a:ext cx="155134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1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Web Application Screen (Landing Pages)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4" name="Group 10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255" name="Freeform 11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6" name="TextBox 12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7" name="Group 13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258" name="Freeform 14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59" name="TextBox 15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60" name="Picture 18" descr=""/>
          <p:cNvPicPr/>
          <p:nvPr/>
        </p:nvPicPr>
        <p:blipFill>
          <a:blip r:embed="rId1"/>
          <a:stretch/>
        </p:blipFill>
        <p:spPr>
          <a:xfrm>
            <a:off x="1295280" y="2279520"/>
            <a:ext cx="7919280" cy="3549240"/>
          </a:xfrm>
          <a:prstGeom prst="rect">
            <a:avLst/>
          </a:prstGeom>
          <a:ln w="0">
            <a:noFill/>
          </a:ln>
        </p:spPr>
      </p:pic>
      <p:pic>
        <p:nvPicPr>
          <p:cNvPr id="261" name="Picture 17" descr="A screenshot of a computer&#10;&#10;AI-generated content may be incorrect."/>
          <p:cNvPicPr/>
          <p:nvPr/>
        </p:nvPicPr>
        <p:blipFill>
          <a:blip r:embed="rId2"/>
          <a:stretch/>
        </p:blipFill>
        <p:spPr>
          <a:xfrm>
            <a:off x="9794160" y="1943280"/>
            <a:ext cx="7849080" cy="3885480"/>
          </a:xfrm>
          <a:prstGeom prst="rect">
            <a:avLst/>
          </a:prstGeom>
          <a:ln w="0">
            <a:noFill/>
          </a:ln>
        </p:spPr>
      </p:pic>
      <p:pic>
        <p:nvPicPr>
          <p:cNvPr id="262" name="Picture 20" descr="A screenshot of a bank account&#10;&#10;AI-generated content may be incorrect.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3448440" y="6440040"/>
            <a:ext cx="10438560" cy="291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8"/>
          <p:cNvSpPr/>
          <p:nvPr/>
        </p:nvSpPr>
        <p:spPr>
          <a:xfrm>
            <a:off x="990720" y="666000"/>
            <a:ext cx="155134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1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Web Application Screen (User )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4097160" y="8584200"/>
            <a:ext cx="159948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56400" defTabSz="914400">
              <a:lnSpc>
                <a:spcPts val="462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Login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5" name="Group 10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266" name="Freeform 11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67" name="TextBox 12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8" name="Group 13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269" name="Freeform 14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0" name="TextBox 15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71" name="Picture 15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9965" t="0" r="9965" b="29048"/>
          <a:stretch/>
        </p:blipFill>
        <p:spPr>
          <a:xfrm>
            <a:off x="1371240" y="2171880"/>
            <a:ext cx="8422200" cy="5562000"/>
          </a:xfrm>
          <a:prstGeom prst="rect">
            <a:avLst/>
          </a:prstGeom>
          <a:ln w="0">
            <a:noFill/>
          </a:ln>
        </p:spPr>
      </p:pic>
      <p:pic>
        <p:nvPicPr>
          <p:cNvPr id="272" name="Picture 1" descr="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2128" t="0" r="22128" b="0"/>
          <a:stretch/>
        </p:blipFill>
        <p:spPr>
          <a:xfrm>
            <a:off x="10972800" y="1866960"/>
            <a:ext cx="5929920" cy="6705000"/>
          </a:xfrm>
          <a:prstGeom prst="rect">
            <a:avLst/>
          </a:prstGeom>
          <a:ln w="0">
            <a:noFill/>
          </a:ln>
        </p:spPr>
      </p:pic>
      <p:sp>
        <p:nvSpPr>
          <p:cNvPr id="273" name="TextBox 9"/>
          <p:cNvSpPr/>
          <p:nvPr/>
        </p:nvSpPr>
        <p:spPr>
          <a:xfrm>
            <a:off x="12590640" y="8733600"/>
            <a:ext cx="391320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56400" defTabSz="914400">
              <a:lnSpc>
                <a:spcPts val="462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Register a New User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275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6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7" name="Group 11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278" name="Freeform 12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79" name="TextBox 13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15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0" name="TextBox 17"/>
          <p:cNvSpPr/>
          <p:nvPr/>
        </p:nvSpPr>
        <p:spPr>
          <a:xfrm>
            <a:off x="7143840" y="615240"/>
            <a:ext cx="3999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000" spc="-1" strike="noStrike">
                <a:solidFill>
                  <a:srgbClr val="0070c0"/>
                </a:solidFill>
                <a:latin typeface="Times New Roman"/>
              </a:rPr>
              <a:t>User Dashboard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Picture 13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1523880" y="2095560"/>
            <a:ext cx="15239160" cy="678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Box 8"/>
          <p:cNvSpPr/>
          <p:nvPr/>
        </p:nvSpPr>
        <p:spPr>
          <a:xfrm>
            <a:off x="1387080" y="661680"/>
            <a:ext cx="1551348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598"/>
              </a:lnSpc>
            </a:pPr>
            <a:r>
              <a:rPr b="1" lang="en-US" sz="4400" spc="-1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Account Creation Screen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9"/>
          <p:cNvSpPr/>
          <p:nvPr/>
        </p:nvSpPr>
        <p:spPr>
          <a:xfrm>
            <a:off x="1881000" y="8496360"/>
            <a:ext cx="583596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56400" algn="ctr" defTabSz="914400">
              <a:lnSpc>
                <a:spcPts val="462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 Bold"/>
              </a:rPr>
              <a:t>Savings Account Creation Page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4" name="Group 10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285" name="Freeform 11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6" name="TextBox 12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" name="Group 13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288" name="Freeform 14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9" name="TextBox 15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90" name="Picture 18" descr=""/>
          <p:cNvPicPr/>
          <p:nvPr/>
        </p:nvPicPr>
        <p:blipFill>
          <a:blip r:embed="rId1"/>
          <a:stretch/>
        </p:blipFill>
        <p:spPr>
          <a:xfrm>
            <a:off x="2601000" y="2171880"/>
            <a:ext cx="5322960" cy="5866560"/>
          </a:xfrm>
          <a:prstGeom prst="rect">
            <a:avLst/>
          </a:prstGeom>
          <a:ln w="0">
            <a:noFill/>
          </a:ln>
        </p:spPr>
      </p:pic>
      <p:sp>
        <p:nvSpPr>
          <p:cNvPr id="291" name="TextBox 11"/>
          <p:cNvSpPr/>
          <p:nvPr/>
        </p:nvSpPr>
        <p:spPr>
          <a:xfrm>
            <a:off x="11125080" y="8420040"/>
            <a:ext cx="495036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62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Current Account Creation Page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Picture 15" descr=""/>
          <p:cNvPicPr/>
          <p:nvPr/>
        </p:nvPicPr>
        <p:blipFill>
          <a:blip r:embed="rId2"/>
          <a:stretch/>
        </p:blipFill>
        <p:spPr>
          <a:xfrm>
            <a:off x="10896480" y="2247840"/>
            <a:ext cx="5028480" cy="579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294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5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" name="Group 11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297" name="Freeform 12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8" name="TextBox 13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15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9" name="TextBox 17"/>
          <p:cNvSpPr/>
          <p:nvPr/>
        </p:nvSpPr>
        <p:spPr>
          <a:xfrm>
            <a:off x="5753160" y="622080"/>
            <a:ext cx="67809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400" spc="-1" strike="noStrike">
                <a:solidFill>
                  <a:srgbClr val="0070c0"/>
                </a:solidFill>
                <a:latin typeface="Times New Roman"/>
              </a:rPr>
              <a:t>Accounts Details Page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Picture 13" descr=""/>
          <p:cNvPicPr/>
          <p:nvPr/>
        </p:nvPicPr>
        <p:blipFill>
          <a:blip r:embed="rId1"/>
          <a:stretch/>
        </p:blipFill>
        <p:spPr>
          <a:xfrm>
            <a:off x="2077200" y="1752480"/>
            <a:ext cx="13752000" cy="678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02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3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4" name="Group 11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05" name="Freeform 12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6" name="TextBox 13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15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7" name="TextBox 17"/>
          <p:cNvSpPr/>
          <p:nvPr/>
        </p:nvSpPr>
        <p:spPr>
          <a:xfrm>
            <a:off x="6003360" y="1160280"/>
            <a:ext cx="75812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400" spc="-1" strike="noStrike">
                <a:solidFill>
                  <a:srgbClr val="0070c0"/>
                </a:solidFill>
                <a:latin typeface="Times New Roman"/>
              </a:rPr>
              <a:t>Transfer Money Component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Picture 13" descr=""/>
          <p:cNvPicPr/>
          <p:nvPr/>
        </p:nvPicPr>
        <p:blipFill>
          <a:blip r:embed="rId1"/>
          <a:srcRect l="0" t="38766" r="0" b="0"/>
          <a:stretch/>
        </p:blipFill>
        <p:spPr>
          <a:xfrm>
            <a:off x="2421000" y="2852640"/>
            <a:ext cx="13445280" cy="415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10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11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12" name="TextBox 11"/>
          <p:cNvSpPr/>
          <p:nvPr/>
        </p:nvSpPr>
        <p:spPr>
          <a:xfrm>
            <a:off x="6058080" y="714960"/>
            <a:ext cx="617148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620"/>
              </a:lnSpc>
            </a:pPr>
            <a:r>
              <a:rPr b="1" lang="en-US" sz="4000" spc="-1" strike="noStrike">
                <a:solidFill>
                  <a:srgbClr val="0070c0"/>
                </a:solidFill>
                <a:latin typeface="Times New Roman"/>
                <a:ea typeface="Times New Roman Bold"/>
              </a:rPr>
              <a:t>Transaction History Page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3" name="Group 12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14" name="Freeform 13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15" name="TextBox 14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16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16" name="Picture 14" descr=""/>
          <p:cNvPicPr/>
          <p:nvPr/>
        </p:nvPicPr>
        <p:blipFill>
          <a:blip r:embed="rId1"/>
          <a:stretch/>
        </p:blipFill>
        <p:spPr>
          <a:xfrm>
            <a:off x="2601000" y="1740240"/>
            <a:ext cx="13084920" cy="641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18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19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0" name="TextBox 11"/>
          <p:cNvSpPr/>
          <p:nvPr/>
        </p:nvSpPr>
        <p:spPr>
          <a:xfrm>
            <a:off x="6058080" y="419760"/>
            <a:ext cx="617148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620"/>
              </a:lnSpc>
            </a:pPr>
            <a:r>
              <a:rPr b="1" lang="en-US" sz="4000" spc="-1" strike="noStrike">
                <a:solidFill>
                  <a:srgbClr val="0070c0"/>
                </a:solidFill>
                <a:latin typeface="Times New Roman"/>
                <a:ea typeface="Times New Roman Bold"/>
              </a:rPr>
              <a:t>Transaction Analytics 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1" name="Group 12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22" name="Freeform 13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3" name="TextBox 14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16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24" name="Picture 14" descr="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2209680" y="1257480"/>
            <a:ext cx="14401080" cy="769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26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27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8" name="TextBox 11"/>
          <p:cNvSpPr/>
          <p:nvPr/>
        </p:nvSpPr>
        <p:spPr>
          <a:xfrm>
            <a:off x="4267080" y="615240"/>
            <a:ext cx="1028628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20"/>
              </a:lnSpc>
            </a:pPr>
            <a:r>
              <a:rPr b="1" lang="en-US" sz="4400" spc="-38" strike="noStrike">
                <a:solidFill>
                  <a:srgbClr val="0070c0"/>
                </a:solidFill>
                <a:latin typeface="Times New Roman"/>
                <a:ea typeface="Times New Roman Bold"/>
              </a:rPr>
              <a:t>Loan Application and Repayment Page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9" name="Group 13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30" name="Freeform 14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1" name="TextBox 15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18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32" name="Picture 16" descr=""/>
          <p:cNvPicPr/>
          <p:nvPr/>
        </p:nvPicPr>
        <p:blipFill>
          <a:blip r:embed="rId1"/>
          <a:srcRect l="5804" t="0" r="5804" b="0"/>
          <a:stretch/>
        </p:blipFill>
        <p:spPr>
          <a:xfrm>
            <a:off x="965880" y="1943280"/>
            <a:ext cx="8024760" cy="5942880"/>
          </a:xfrm>
          <a:prstGeom prst="rect">
            <a:avLst/>
          </a:prstGeom>
          <a:ln w="0">
            <a:noFill/>
          </a:ln>
        </p:spPr>
      </p:pic>
      <p:pic>
        <p:nvPicPr>
          <p:cNvPr id="333" name="Picture 18" descr=""/>
          <p:cNvPicPr/>
          <p:nvPr/>
        </p:nvPicPr>
        <p:blipFill>
          <a:blip r:embed="rId2"/>
          <a:srcRect l="6730" t="0" r="6730" b="0"/>
          <a:stretch/>
        </p:blipFill>
        <p:spPr>
          <a:xfrm>
            <a:off x="10061640" y="1943280"/>
            <a:ext cx="6976440" cy="601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35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36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7" name="TextBox 11"/>
          <p:cNvSpPr/>
          <p:nvPr/>
        </p:nvSpPr>
        <p:spPr>
          <a:xfrm>
            <a:off x="3200400" y="203400"/>
            <a:ext cx="1150560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620"/>
              </a:lnSpc>
            </a:pPr>
            <a:r>
              <a:rPr b="1" lang="en-US" sz="4400" spc="-38" strike="noStrike">
                <a:solidFill>
                  <a:srgbClr val="0070c0"/>
                </a:solidFill>
                <a:latin typeface="Times New Roman"/>
                <a:ea typeface="Times New Roman Bold"/>
              </a:rPr>
              <a:t>Apply for a Loan Page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8" name="Group 13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39" name="Freeform 14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0" name="TextBox 15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18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41" name="Picture 2" descr="A screenshot of a application&#10;&#10;AI-generated content may be incorrect."/>
          <p:cNvPicPr/>
          <p:nvPr/>
        </p:nvPicPr>
        <p:blipFill>
          <a:blip r:embed="rId1"/>
          <a:stretch/>
        </p:blipFill>
        <p:spPr>
          <a:xfrm>
            <a:off x="3367080" y="1547640"/>
            <a:ext cx="11553120" cy="71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43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4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5" name="TextBox 11"/>
          <p:cNvSpPr/>
          <p:nvPr/>
        </p:nvSpPr>
        <p:spPr>
          <a:xfrm>
            <a:off x="3200400" y="371160"/>
            <a:ext cx="1150560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620"/>
              </a:lnSpc>
            </a:pPr>
            <a:r>
              <a:rPr b="1" lang="en-US" sz="4400" spc="-38" strike="noStrike">
                <a:solidFill>
                  <a:srgbClr val="0070c0"/>
                </a:solidFill>
                <a:latin typeface="Times New Roman"/>
                <a:ea typeface="Times New Roman Bold"/>
              </a:rPr>
              <a:t>Loan Repayment Schedule Page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6" name="Group 13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47" name="Freeform 14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8" name="TextBox 15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18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49" name="Picture 2" descr=""/>
          <p:cNvPicPr/>
          <p:nvPr/>
        </p:nvPicPr>
        <p:blipFill>
          <a:blip r:embed="rId1"/>
          <a:stretch/>
        </p:blipFill>
        <p:spPr>
          <a:xfrm>
            <a:off x="3409920" y="1547640"/>
            <a:ext cx="11467440" cy="71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51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2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3" name="TextBox 11"/>
          <p:cNvSpPr/>
          <p:nvPr/>
        </p:nvSpPr>
        <p:spPr>
          <a:xfrm>
            <a:off x="6938280" y="351720"/>
            <a:ext cx="426636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20"/>
              </a:lnSpc>
            </a:pPr>
            <a:r>
              <a:rPr b="1" lang="en-US" sz="3200" spc="-1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Debit Card Dashboard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4" name="Group 12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55" name="Freeform 13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56" name="TextBox 14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16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57" name="Picture 15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1523880" y="1352520"/>
            <a:ext cx="15239160" cy="758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8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59" name="Freeform 9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60" name="TextBox 10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61" name="TextBox 11"/>
          <p:cNvSpPr/>
          <p:nvPr/>
        </p:nvSpPr>
        <p:spPr>
          <a:xfrm>
            <a:off x="6938280" y="351720"/>
            <a:ext cx="426636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20"/>
              </a:lnSpc>
            </a:pPr>
            <a:r>
              <a:rPr b="1" lang="en-US" sz="3200" spc="-1" strike="noStrike">
                <a:solidFill>
                  <a:srgbClr val="0070c0"/>
                </a:solidFill>
                <a:latin typeface="Times New Roman Bold"/>
                <a:ea typeface="Times New Roman Bold"/>
              </a:rPr>
              <a:t>Credit Card Dashboard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2" name="Group 12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63" name="Freeform 13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64" name="TextBox 14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16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65" name="Picture 15" descr=""/>
          <p:cNvPicPr/>
          <p:nvPr/>
        </p:nvPicPr>
        <p:blipFill>
          <a:blip r:embed="rId1"/>
          <a:stretch/>
        </p:blipFill>
        <p:spPr>
          <a:xfrm>
            <a:off x="1637280" y="1352520"/>
            <a:ext cx="15013080" cy="758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roup 9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67" name="Freeform 10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68" name="TextBox 11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9" name="Group 13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70" name="Freeform 14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1" name="TextBox 15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20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2" name="TextBox 3"/>
          <p:cNvSpPr/>
          <p:nvPr/>
        </p:nvSpPr>
        <p:spPr>
          <a:xfrm>
            <a:off x="4982040" y="284040"/>
            <a:ext cx="832320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620"/>
              </a:lnSpc>
            </a:pPr>
            <a:r>
              <a:rPr b="1" lang="en-US" sz="4000" spc="-1" strike="noStrike">
                <a:solidFill>
                  <a:srgbClr val="0070c0"/>
                </a:solidFill>
                <a:latin typeface="Times New Roman"/>
              </a:rPr>
              <a:t>Admin Dashboard - Users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3" name="Picture 23" descr="A screenshot of a computer&#10;&#10;AI-generated content may be incorrect."/>
          <p:cNvPicPr/>
          <p:nvPr/>
        </p:nvPicPr>
        <p:blipFill>
          <a:blip r:embed="rId1"/>
          <a:stretch/>
        </p:blipFill>
        <p:spPr>
          <a:xfrm>
            <a:off x="1523880" y="1181160"/>
            <a:ext cx="15239160" cy="754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roup 9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75" name="Freeform 10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6" name="TextBox 11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7" name="Group 13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78" name="Freeform 14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79" name="TextBox 15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20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0" name="TextBox 3"/>
          <p:cNvSpPr/>
          <p:nvPr/>
        </p:nvSpPr>
        <p:spPr>
          <a:xfrm>
            <a:off x="4982040" y="284040"/>
            <a:ext cx="832320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620"/>
              </a:lnSpc>
            </a:pPr>
            <a:r>
              <a:rPr b="1" lang="en-US" sz="4000" spc="-1" strike="noStrike">
                <a:solidFill>
                  <a:srgbClr val="0070c0"/>
                </a:solidFill>
                <a:latin typeface="Times New Roman"/>
              </a:rPr>
              <a:t>Admin Dashboard - Loans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1" name="Picture 23" descr=""/>
          <p:cNvPicPr/>
          <p:nvPr/>
        </p:nvPicPr>
        <p:blipFill>
          <a:blip r:embed="rId1"/>
          <a:stretch/>
        </p:blipFill>
        <p:spPr>
          <a:xfrm>
            <a:off x="1523880" y="1209600"/>
            <a:ext cx="15239160" cy="748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roup 6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83" name="Freeform 7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4" name="TextBox 8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24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5" name="Group 14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86" name="Freeform 15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87" name="TextBox 16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8" name="TextBox 17"/>
          <p:cNvSpPr/>
          <p:nvPr/>
        </p:nvSpPr>
        <p:spPr>
          <a:xfrm>
            <a:off x="5247360" y="271440"/>
            <a:ext cx="77925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IN" sz="4800" spc="-1" strike="noStrike">
                <a:solidFill>
                  <a:srgbClr val="0070c0"/>
                </a:solidFill>
                <a:latin typeface="Times New Roman"/>
              </a:rPr>
              <a:t>Key Challenges &amp; Solutions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Rectangle 3"/>
          <p:cNvSpPr/>
          <p:nvPr/>
        </p:nvSpPr>
        <p:spPr>
          <a:xfrm>
            <a:off x="757440" y="4666320"/>
            <a:ext cx="16772400" cy="95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2"/>
          <p:cNvSpPr/>
          <p:nvPr/>
        </p:nvSpPr>
        <p:spPr>
          <a:xfrm>
            <a:off x="609480" y="1562040"/>
            <a:ext cx="13098960" cy="57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chemeClr val="dk1"/>
                </a:solidFill>
                <a:latin typeface="Calibri"/>
              </a:rPr>
              <a:t>Authentication &amp; RBAC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Challenge: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No security enforcement; roles separated only by service boundaries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Solution: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Implement Spring Security + JWT; use @PreAuthorize; add API Gateway for centralized auth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chemeClr val="dk1"/>
                </a:solidFill>
                <a:latin typeface="Calibri"/>
              </a:rPr>
              <a:t>No API Gateway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Challenge: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Missing centralized auth, rate-limiting, CORS, logging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Solution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: Introduce Spring Cloud Gateway for unified entry point and cross-cutting concerns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chemeClr val="dk1"/>
                </a:solidFill>
                <a:latin typeface="Calibri"/>
              </a:rPr>
              <a:t>Data Consistency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Challenge: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Repayment flow risks double-charging or partial failures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Solution: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Use idempotency keys, transactional outbox/inbox or Saga patterns for reliability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roup 6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392" name="Freeform 7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3" name="TextBox 8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24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4" name="Group 14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395" name="Freeform 15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96" name="TextBox 16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7" name="TextBox 17"/>
          <p:cNvSpPr/>
          <p:nvPr/>
        </p:nvSpPr>
        <p:spPr>
          <a:xfrm>
            <a:off x="2971800" y="279360"/>
            <a:ext cx="12267360" cy="13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800" spc="-1" strike="noStrike">
                <a:solidFill>
                  <a:srgbClr val="0070c0"/>
                </a:solidFill>
                <a:latin typeface="Times New Roman"/>
              </a:rPr>
              <a:t>Key Takeaways from This Project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2"/>
          <p:cNvSpPr/>
          <p:nvPr/>
        </p:nvSpPr>
        <p:spPr>
          <a:xfrm>
            <a:off x="1600200" y="1602720"/>
            <a:ext cx="13181760" cy="66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Microservices architecture: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Clear separation of concerns with dedicated services (loan, user, account, admin, transaction) coordinated via Eureka service discovery.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Inter-service communication: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Declarative HTTP via Spring Cloud OpenFeign with client-side load balancing; aggregation pattern in loan-service (CombinedLoanUserDTO).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Persistence layer: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Oracle DB across services with JPA/Hibernate and HikariCP; consistent DDL auto-update for rapid iteration.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Operations and observability: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Spring Boot Actuator enabled and verbose SQL logging; Micrometer on classpath but no distributed tracing configured.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Service discovery: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Netflix Eureka server and clients are first-class, enabling runtime registration and lookup; no API gateway present.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Security posture: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No Spring Security/JWT/OAuth2 in code; role separation is by service boundary (admin-service endpoints vs. user/loan services), not enforced by RBAC.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roup 6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400" name="Freeform 7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1" name="TextBox 8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24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2" name="Group 14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403" name="Freeform 15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4" name="TextBox 16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5" name="TextBox 17"/>
          <p:cNvSpPr/>
          <p:nvPr/>
        </p:nvSpPr>
        <p:spPr>
          <a:xfrm>
            <a:off x="2971800" y="279360"/>
            <a:ext cx="12267360" cy="13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800" spc="-1" strike="noStrike">
                <a:solidFill>
                  <a:srgbClr val="0070c0"/>
                </a:solidFill>
                <a:latin typeface="Times New Roman"/>
              </a:rPr>
              <a:t>Key Takeaways from This Project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3"/>
          <p:cNvSpPr/>
          <p:nvPr/>
        </p:nvSpPr>
        <p:spPr>
          <a:xfrm>
            <a:off x="152280" y="1943280"/>
            <a:ext cx="1355616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3" marL="17146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Domain workflows: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Loan lifecycle and repayments implemented; repayments trigger transaction-service via Feign and local event listener pattern.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146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Technology baseline: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Java 21, Spring Boot 3.x, Spring Data JPA, Hibernate, OpenFeign, Eureka, Tomcat, Jackson, Lombok, Maven.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146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Developer experience: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Postman collection included for manual API testing; YAML/properties configs standardized across services.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roup 6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408" name="Freeform 7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09" name="TextBox 8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24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0" name="Group 14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411" name="Freeform 15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2" name="TextBox 16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3" name="TextBox 17"/>
          <p:cNvSpPr/>
          <p:nvPr/>
        </p:nvSpPr>
        <p:spPr>
          <a:xfrm>
            <a:off x="2971800" y="279360"/>
            <a:ext cx="12267360" cy="13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800" spc="-1" strike="noStrike">
                <a:solidFill>
                  <a:srgbClr val="0070c0"/>
                </a:solidFill>
                <a:latin typeface="Times New Roman"/>
              </a:rPr>
              <a:t>Future Scope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Box 2"/>
          <p:cNvSpPr/>
          <p:nvPr/>
        </p:nvSpPr>
        <p:spPr>
          <a:xfrm>
            <a:off x="1066680" y="1631160"/>
            <a:ext cx="1264176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2" marL="12574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Introduce </a:t>
            </a: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API Gateway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(Spring Cloud Gateway) for unified entry, routing, and cross-cutting concerns.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574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Add </a:t>
            </a: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authentication/authorization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(Spring Security + JWT/OAuth2) with role-based access controls for admin vs. customer.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574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Implement </a:t>
            </a: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resilience patterns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(timeouts, retries, circuit breakers via Resilience4j) on Feign clients.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574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Add </a:t>
            </a: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OpenAPI/Swagger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for API documentation and client generation.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2" marL="12574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Enable </a:t>
            </a:r>
            <a:r>
              <a:rPr b="1" lang="en-IN" sz="2400" spc="-1" strike="noStrike">
                <a:solidFill>
                  <a:schemeClr val="dk1"/>
                </a:solidFill>
                <a:latin typeface="Calibri"/>
              </a:rPr>
              <a:t>distributed tracing </a:t>
            </a: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(Sleuth/Brave + Zipkin/OTel) for cross-service observability.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roup 6"/>
          <p:cNvGrpSpPr/>
          <p:nvPr/>
        </p:nvGrpSpPr>
        <p:grpSpPr>
          <a:xfrm>
            <a:off x="12891960" y="9600120"/>
            <a:ext cx="4114080" cy="575640"/>
            <a:chOff x="12891960" y="9600120"/>
            <a:chExt cx="4114080" cy="575640"/>
          </a:xfrm>
        </p:grpSpPr>
        <p:sp>
          <p:nvSpPr>
            <p:cNvPr id="416" name="Freeform 7"/>
            <p:cNvSpPr/>
            <p:nvPr/>
          </p:nvSpPr>
          <p:spPr>
            <a:xfrm>
              <a:off x="12891960" y="9628560"/>
              <a:ext cx="4114080" cy="546840"/>
            </a:xfrm>
            <a:custGeom>
              <a:avLst/>
              <a:gdLst>
                <a:gd name="textAreaLeft" fmla="*/ 0 w 4114080"/>
                <a:gd name="textAreaRight" fmla="*/ 4114800 w 4114080"/>
                <a:gd name="textAreaTop" fmla="*/ 0 h 546840"/>
                <a:gd name="textAreaBottom" fmla="*/ 547560 h 546840"/>
              </a:gdLst>
              <a:ahLst/>
              <a:rect l="textAreaLeft" t="textAreaTop" r="textAreaRight" b="textAreaBottom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17" name="TextBox 8"/>
            <p:cNvSpPr/>
            <p:nvPr/>
          </p:nvSpPr>
          <p:spPr>
            <a:xfrm>
              <a:off x="12891960" y="9600120"/>
              <a:ext cx="411408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 defTabSz="914400">
                <a:lnSpc>
                  <a:spcPts val="2160"/>
                </a:lnSpc>
              </a:pPr>
              <a:r>
                <a:rPr b="0" lang="en-US" sz="1800" spc="-1" strike="noStrike">
                  <a:solidFill>
                    <a:srgbClr val="898989"/>
                  </a:solidFill>
                  <a:latin typeface="Calibri (MS)"/>
                  <a:ea typeface="Calibri (MS)"/>
                </a:rPr>
                <a:t>24</a:t>
              </a: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8" name="Group 14"/>
          <p:cNvGrpSpPr/>
          <p:nvPr/>
        </p:nvGrpSpPr>
        <p:grpSpPr>
          <a:xfrm>
            <a:off x="0" y="9621000"/>
            <a:ext cx="9793440" cy="700200"/>
            <a:chOff x="0" y="9621000"/>
            <a:chExt cx="9793440" cy="700200"/>
          </a:xfrm>
        </p:grpSpPr>
        <p:sp>
          <p:nvSpPr>
            <p:cNvPr id="419" name="Freeform 15"/>
            <p:cNvSpPr/>
            <p:nvPr/>
          </p:nvSpPr>
          <p:spPr>
            <a:xfrm>
              <a:off x="0" y="9649800"/>
              <a:ext cx="9793440" cy="671400"/>
            </a:xfrm>
            <a:custGeom>
              <a:avLst/>
              <a:gdLst>
                <a:gd name="textAreaLeft" fmla="*/ 0 w 9793440"/>
                <a:gd name="textAreaRight" fmla="*/ 9794160 w 9793440"/>
                <a:gd name="textAreaTop" fmla="*/ 0 h 671400"/>
                <a:gd name="textAreaBottom" fmla="*/ 672120 h 671400"/>
              </a:gdLst>
              <a:ahLst/>
              <a:rect l="textAreaLeft" t="textAreaTop" r="textAreaRight" b="textAreaBottom"/>
              <a:pathLst>
                <a:path w="13059104" h="896284">
                  <a:moveTo>
                    <a:pt x="0" y="0"/>
                  </a:moveTo>
                  <a:lnTo>
                    <a:pt x="13059104" y="0"/>
                  </a:lnTo>
                  <a:lnTo>
                    <a:pt x="13059104" y="896284"/>
                  </a:lnTo>
                  <a:lnTo>
                    <a:pt x="0" y="896284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20" name="TextBox 16"/>
            <p:cNvSpPr/>
            <p:nvPr/>
          </p:nvSpPr>
          <p:spPr>
            <a:xfrm>
              <a:off x="0" y="9621000"/>
              <a:ext cx="979344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2160"/>
                </a:lnSpc>
              </a:pPr>
              <a:endParaRPr b="0" lang="en-IN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1" name="TextBox 17"/>
          <p:cNvSpPr/>
          <p:nvPr/>
        </p:nvSpPr>
        <p:spPr>
          <a:xfrm>
            <a:off x="7238880" y="571680"/>
            <a:ext cx="91566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Demo Links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Rectangle 2"/>
          <p:cNvSpPr/>
          <p:nvPr/>
        </p:nvSpPr>
        <p:spPr>
          <a:xfrm>
            <a:off x="409680" y="4729320"/>
            <a:ext cx="170060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Times New Roman"/>
              </a:rPr>
              <a:t>Github Link :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Freeform 2"/>
          <p:cNvSpPr/>
          <p:nvPr/>
        </p:nvSpPr>
        <p:spPr>
          <a:xfrm>
            <a:off x="0" y="-45720"/>
            <a:ext cx="18287280" cy="1037772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377720"/>
              <a:gd name="textAreaBottom" fmla="*/ 10378440 h 10377720"/>
            </a:gdLst>
            <a:ahLst/>
            <a:rect l="textAreaLeft" t="textAreaTop" r="textAreaRight" b="textAreaBottom"/>
            <a:pathLst>
              <a:path w="18288000" h="1037844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424" name="Group 3"/>
          <p:cNvGrpSpPr/>
          <p:nvPr/>
        </p:nvGrpSpPr>
        <p:grpSpPr>
          <a:xfrm>
            <a:off x="6640920" y="4514760"/>
            <a:ext cx="111600" cy="112680"/>
            <a:chOff x="6640920" y="4514760"/>
            <a:chExt cx="111600" cy="112680"/>
          </a:xfrm>
        </p:grpSpPr>
        <p:sp>
          <p:nvSpPr>
            <p:cNvPr id="425" name="Freeform 4"/>
            <p:cNvSpPr/>
            <p:nvPr/>
          </p:nvSpPr>
          <p:spPr>
            <a:xfrm>
              <a:off x="6640920" y="4514760"/>
              <a:ext cx="111600" cy="112680"/>
            </a:xfrm>
            <a:custGeom>
              <a:avLst/>
              <a:gdLst>
                <a:gd name="textAreaLeft" fmla="*/ 0 w 111600"/>
                <a:gd name="textAreaRight" fmla="*/ 112320 w 111600"/>
                <a:gd name="textAreaTop" fmla="*/ 0 h 112680"/>
                <a:gd name="textAreaBottom" fmla="*/ 113400 h 112680"/>
              </a:gdLst>
              <a:ahLst/>
              <a:rect l="textAreaLeft" t="textAreaTop" r="textAreaRight" b="textAreaBottom"/>
              <a:pathLst>
                <a:path w="149860" h="151130">
                  <a:moveTo>
                    <a:pt x="149860" y="53340"/>
                  </a:moveTo>
                  <a:cubicBezTo>
                    <a:pt x="129540" y="134620"/>
                    <a:pt x="120650" y="140970"/>
                    <a:pt x="107950" y="144780"/>
                  </a:cubicBezTo>
                  <a:cubicBezTo>
                    <a:pt x="90170" y="151130"/>
                    <a:pt x="54610" y="148590"/>
                    <a:pt x="36830" y="140970"/>
                  </a:cubicBezTo>
                  <a:cubicBezTo>
                    <a:pt x="25400" y="135890"/>
                    <a:pt x="17780" y="125730"/>
                    <a:pt x="11430" y="115570"/>
                  </a:cubicBezTo>
                  <a:cubicBezTo>
                    <a:pt x="5080" y="105410"/>
                    <a:pt x="0" y="93980"/>
                    <a:pt x="1270" y="80010"/>
                  </a:cubicBezTo>
                  <a:cubicBezTo>
                    <a:pt x="1270" y="62230"/>
                    <a:pt x="16510" y="29210"/>
                    <a:pt x="29210" y="15240"/>
                  </a:cubicBezTo>
                  <a:cubicBezTo>
                    <a:pt x="39370" y="6350"/>
                    <a:pt x="49530" y="1270"/>
                    <a:pt x="63500" y="1270"/>
                  </a:cubicBezTo>
                  <a:cubicBezTo>
                    <a:pt x="81280" y="0"/>
                    <a:pt x="130810" y="21590"/>
                    <a:pt x="130810" y="21590"/>
                  </a:cubicBezTo>
                </a:path>
              </a:pathLst>
            </a:custGeom>
            <a:solidFill>
              <a:srgbClr val="faf8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26" name="Group 5"/>
          <p:cNvGrpSpPr/>
          <p:nvPr/>
        </p:nvGrpSpPr>
        <p:grpSpPr>
          <a:xfrm>
            <a:off x="3067200" y="4277520"/>
            <a:ext cx="2695680" cy="762120"/>
            <a:chOff x="3067200" y="4277520"/>
            <a:chExt cx="2695680" cy="762120"/>
          </a:xfrm>
        </p:grpSpPr>
        <p:sp>
          <p:nvSpPr>
            <p:cNvPr id="427" name="Freeform 6"/>
            <p:cNvSpPr/>
            <p:nvPr/>
          </p:nvSpPr>
          <p:spPr>
            <a:xfrm>
              <a:off x="3067200" y="4277520"/>
              <a:ext cx="2695680" cy="762120"/>
            </a:xfrm>
            <a:custGeom>
              <a:avLst/>
              <a:gdLst>
                <a:gd name="textAreaLeft" fmla="*/ 0 w 2695680"/>
                <a:gd name="textAreaRight" fmla="*/ 2696400 w 2695680"/>
                <a:gd name="textAreaTop" fmla="*/ 0 h 762120"/>
                <a:gd name="textAreaBottom" fmla="*/ 762840 h 762120"/>
              </a:gdLst>
              <a:ahLst/>
              <a:rect l="textAreaLeft" t="textAreaTop" r="textAreaRight" b="textAreaBottom"/>
              <a:pathLst>
                <a:path w="3595370" h="1017270">
                  <a:moveTo>
                    <a:pt x="528320" y="381000"/>
                  </a:moveTo>
                  <a:cubicBezTo>
                    <a:pt x="1017270" y="483870"/>
                    <a:pt x="1055370" y="508000"/>
                    <a:pt x="1059180" y="538480"/>
                  </a:cubicBezTo>
                  <a:cubicBezTo>
                    <a:pt x="1064260" y="574040"/>
                    <a:pt x="1026160" y="631190"/>
                    <a:pt x="977900" y="664210"/>
                  </a:cubicBezTo>
                  <a:cubicBezTo>
                    <a:pt x="896620" y="721360"/>
                    <a:pt x="617220" y="764540"/>
                    <a:pt x="553720" y="762000"/>
                  </a:cubicBezTo>
                  <a:cubicBezTo>
                    <a:pt x="535940" y="760730"/>
                    <a:pt x="529590" y="756920"/>
                    <a:pt x="519430" y="749300"/>
                  </a:cubicBezTo>
                  <a:cubicBezTo>
                    <a:pt x="506730" y="740410"/>
                    <a:pt x="491490" y="722630"/>
                    <a:pt x="487680" y="706120"/>
                  </a:cubicBezTo>
                  <a:cubicBezTo>
                    <a:pt x="482600" y="689610"/>
                    <a:pt x="485140" y="666750"/>
                    <a:pt x="492760" y="651510"/>
                  </a:cubicBezTo>
                  <a:cubicBezTo>
                    <a:pt x="499110" y="637540"/>
                    <a:pt x="508000" y="624840"/>
                    <a:pt x="530860" y="614680"/>
                  </a:cubicBezTo>
                  <a:cubicBezTo>
                    <a:pt x="605790" y="585470"/>
                    <a:pt x="981710" y="593090"/>
                    <a:pt x="1059180" y="617220"/>
                  </a:cubicBezTo>
                  <a:cubicBezTo>
                    <a:pt x="1083310" y="624840"/>
                    <a:pt x="1093470" y="636270"/>
                    <a:pt x="1102360" y="647700"/>
                  </a:cubicBezTo>
                  <a:cubicBezTo>
                    <a:pt x="1109980" y="657860"/>
                    <a:pt x="1115060" y="669290"/>
                    <a:pt x="1115060" y="681990"/>
                  </a:cubicBezTo>
                  <a:cubicBezTo>
                    <a:pt x="1116330" y="697230"/>
                    <a:pt x="1112520" y="718820"/>
                    <a:pt x="1102360" y="732790"/>
                  </a:cubicBezTo>
                  <a:cubicBezTo>
                    <a:pt x="1093470" y="746760"/>
                    <a:pt x="1082040" y="756920"/>
                    <a:pt x="1059180" y="763270"/>
                  </a:cubicBezTo>
                  <a:cubicBezTo>
                    <a:pt x="1000760" y="778510"/>
                    <a:pt x="772160" y="763270"/>
                    <a:pt x="718820" y="736600"/>
                  </a:cubicBezTo>
                  <a:cubicBezTo>
                    <a:pt x="697230" y="725170"/>
                    <a:pt x="689610" y="709930"/>
                    <a:pt x="683260" y="694690"/>
                  </a:cubicBezTo>
                  <a:cubicBezTo>
                    <a:pt x="678180" y="683260"/>
                    <a:pt x="676910" y="671830"/>
                    <a:pt x="679450" y="659130"/>
                  </a:cubicBezTo>
                  <a:cubicBezTo>
                    <a:pt x="684530" y="641350"/>
                    <a:pt x="698500" y="618490"/>
                    <a:pt x="721360" y="601980"/>
                  </a:cubicBezTo>
                  <a:cubicBezTo>
                    <a:pt x="756920" y="574040"/>
                    <a:pt x="828040" y="558800"/>
                    <a:pt x="899160" y="542290"/>
                  </a:cubicBezTo>
                  <a:cubicBezTo>
                    <a:pt x="1004570" y="515620"/>
                    <a:pt x="1140460" y="497840"/>
                    <a:pt x="1290320" y="478790"/>
                  </a:cubicBezTo>
                  <a:cubicBezTo>
                    <a:pt x="1490980" y="454660"/>
                    <a:pt x="1915160" y="387350"/>
                    <a:pt x="1996440" y="415290"/>
                  </a:cubicBezTo>
                  <a:cubicBezTo>
                    <a:pt x="2016760" y="421640"/>
                    <a:pt x="2023110" y="433070"/>
                    <a:pt x="2028190" y="445770"/>
                  </a:cubicBezTo>
                  <a:cubicBezTo>
                    <a:pt x="2034540" y="457200"/>
                    <a:pt x="2035810" y="476250"/>
                    <a:pt x="2033270" y="488950"/>
                  </a:cubicBezTo>
                  <a:cubicBezTo>
                    <a:pt x="2030730" y="499110"/>
                    <a:pt x="2025650" y="508000"/>
                    <a:pt x="2018030" y="514350"/>
                  </a:cubicBezTo>
                  <a:cubicBezTo>
                    <a:pt x="2009140" y="523240"/>
                    <a:pt x="2001520" y="529590"/>
                    <a:pt x="1978660" y="534670"/>
                  </a:cubicBezTo>
                  <a:cubicBezTo>
                    <a:pt x="1870710" y="557530"/>
                    <a:pt x="1172210" y="505460"/>
                    <a:pt x="1013460" y="515620"/>
                  </a:cubicBezTo>
                  <a:cubicBezTo>
                    <a:pt x="961390" y="518160"/>
                    <a:pt x="937260" y="532130"/>
                    <a:pt x="910590" y="529590"/>
                  </a:cubicBezTo>
                  <a:cubicBezTo>
                    <a:pt x="894080" y="527050"/>
                    <a:pt x="880110" y="521970"/>
                    <a:pt x="869950" y="514350"/>
                  </a:cubicBezTo>
                  <a:cubicBezTo>
                    <a:pt x="862330" y="508000"/>
                    <a:pt x="857250" y="499110"/>
                    <a:pt x="853440" y="490220"/>
                  </a:cubicBezTo>
                  <a:cubicBezTo>
                    <a:pt x="849630" y="477520"/>
                    <a:pt x="849630" y="458470"/>
                    <a:pt x="853440" y="447040"/>
                  </a:cubicBezTo>
                  <a:cubicBezTo>
                    <a:pt x="857250" y="436880"/>
                    <a:pt x="862330" y="429260"/>
                    <a:pt x="869950" y="422910"/>
                  </a:cubicBezTo>
                  <a:cubicBezTo>
                    <a:pt x="880110" y="415290"/>
                    <a:pt x="890270" y="411480"/>
                    <a:pt x="910590" y="407670"/>
                  </a:cubicBezTo>
                  <a:cubicBezTo>
                    <a:pt x="966470" y="396240"/>
                    <a:pt x="1107440" y="392430"/>
                    <a:pt x="1234440" y="398780"/>
                  </a:cubicBezTo>
                  <a:cubicBezTo>
                    <a:pt x="1419860" y="406400"/>
                    <a:pt x="1728470" y="443230"/>
                    <a:pt x="1912620" y="474980"/>
                  </a:cubicBezTo>
                  <a:cubicBezTo>
                    <a:pt x="2042160" y="497840"/>
                    <a:pt x="2180590" y="528320"/>
                    <a:pt x="2239010" y="553720"/>
                  </a:cubicBezTo>
                  <a:cubicBezTo>
                    <a:pt x="2263140" y="563880"/>
                    <a:pt x="2273300" y="571500"/>
                    <a:pt x="2284730" y="584200"/>
                  </a:cubicBezTo>
                  <a:cubicBezTo>
                    <a:pt x="2294890" y="594360"/>
                    <a:pt x="2305050" y="607060"/>
                    <a:pt x="2306320" y="621030"/>
                  </a:cubicBezTo>
                  <a:cubicBezTo>
                    <a:pt x="2307590" y="637540"/>
                    <a:pt x="2299970" y="664210"/>
                    <a:pt x="2288540" y="675640"/>
                  </a:cubicBezTo>
                  <a:cubicBezTo>
                    <a:pt x="2278380" y="685800"/>
                    <a:pt x="2270760" y="690880"/>
                    <a:pt x="2247900" y="693420"/>
                  </a:cubicBezTo>
                  <a:cubicBezTo>
                    <a:pt x="2159000" y="702310"/>
                    <a:pt x="1765300" y="593090"/>
                    <a:pt x="1548130" y="554990"/>
                  </a:cubicBezTo>
                  <a:cubicBezTo>
                    <a:pt x="1362710" y="521970"/>
                    <a:pt x="1163320" y="488950"/>
                    <a:pt x="1028700" y="473710"/>
                  </a:cubicBezTo>
                  <a:cubicBezTo>
                    <a:pt x="943610" y="463550"/>
                    <a:pt x="859790" y="468630"/>
                    <a:pt x="817880" y="457200"/>
                  </a:cubicBezTo>
                  <a:cubicBezTo>
                    <a:pt x="800100" y="452120"/>
                    <a:pt x="788670" y="447040"/>
                    <a:pt x="779780" y="438150"/>
                  </a:cubicBezTo>
                  <a:cubicBezTo>
                    <a:pt x="770890" y="427990"/>
                    <a:pt x="763270" y="411480"/>
                    <a:pt x="763270" y="397510"/>
                  </a:cubicBezTo>
                  <a:cubicBezTo>
                    <a:pt x="763270" y="384810"/>
                    <a:pt x="769620" y="367030"/>
                    <a:pt x="778510" y="356870"/>
                  </a:cubicBezTo>
                  <a:cubicBezTo>
                    <a:pt x="786130" y="346710"/>
                    <a:pt x="798830" y="339090"/>
                    <a:pt x="815340" y="336550"/>
                  </a:cubicBezTo>
                  <a:cubicBezTo>
                    <a:pt x="848360" y="330200"/>
                    <a:pt x="891540" y="344170"/>
                    <a:pt x="966470" y="358140"/>
                  </a:cubicBezTo>
                  <a:cubicBezTo>
                    <a:pt x="1200150" y="402590"/>
                    <a:pt x="2278380" y="633730"/>
                    <a:pt x="2386330" y="683260"/>
                  </a:cubicBezTo>
                  <a:cubicBezTo>
                    <a:pt x="2402840" y="690880"/>
                    <a:pt x="2404110" y="693420"/>
                    <a:pt x="2410460" y="701040"/>
                  </a:cubicBezTo>
                  <a:cubicBezTo>
                    <a:pt x="2418080" y="711200"/>
                    <a:pt x="2425700" y="728980"/>
                    <a:pt x="2424430" y="742950"/>
                  </a:cubicBezTo>
                  <a:cubicBezTo>
                    <a:pt x="2424430" y="756920"/>
                    <a:pt x="2416810" y="773430"/>
                    <a:pt x="2407920" y="783590"/>
                  </a:cubicBezTo>
                  <a:cubicBezTo>
                    <a:pt x="2399030" y="793750"/>
                    <a:pt x="2390140" y="797560"/>
                    <a:pt x="2368550" y="802640"/>
                  </a:cubicBezTo>
                  <a:cubicBezTo>
                    <a:pt x="2278380" y="824230"/>
                    <a:pt x="1859280" y="816610"/>
                    <a:pt x="1653540" y="814070"/>
                  </a:cubicBezTo>
                  <a:cubicBezTo>
                    <a:pt x="1496060" y="811530"/>
                    <a:pt x="1344930" y="805180"/>
                    <a:pt x="1236980" y="795020"/>
                  </a:cubicBezTo>
                  <a:cubicBezTo>
                    <a:pt x="1168400" y="789940"/>
                    <a:pt x="1102360" y="792480"/>
                    <a:pt x="1068070" y="773430"/>
                  </a:cubicBezTo>
                  <a:cubicBezTo>
                    <a:pt x="1047750" y="763270"/>
                    <a:pt x="1035050" y="745490"/>
                    <a:pt x="1029970" y="731520"/>
                  </a:cubicBezTo>
                  <a:cubicBezTo>
                    <a:pt x="1026160" y="721360"/>
                    <a:pt x="1027430" y="711200"/>
                    <a:pt x="1029970" y="702310"/>
                  </a:cubicBezTo>
                  <a:cubicBezTo>
                    <a:pt x="1033780" y="689610"/>
                    <a:pt x="1043940" y="673100"/>
                    <a:pt x="1054100" y="665480"/>
                  </a:cubicBezTo>
                  <a:cubicBezTo>
                    <a:pt x="1065530" y="657860"/>
                    <a:pt x="1076960" y="656590"/>
                    <a:pt x="1097280" y="655320"/>
                  </a:cubicBezTo>
                  <a:cubicBezTo>
                    <a:pt x="1140460" y="652780"/>
                    <a:pt x="1216660" y="665480"/>
                    <a:pt x="1306830" y="680720"/>
                  </a:cubicBezTo>
                  <a:cubicBezTo>
                    <a:pt x="1470660" y="706120"/>
                    <a:pt x="1912620" y="782320"/>
                    <a:pt x="2000250" y="815340"/>
                  </a:cubicBezTo>
                  <a:cubicBezTo>
                    <a:pt x="2021840" y="824230"/>
                    <a:pt x="2029460" y="826770"/>
                    <a:pt x="2038350" y="838200"/>
                  </a:cubicBezTo>
                  <a:cubicBezTo>
                    <a:pt x="2047240" y="849630"/>
                    <a:pt x="2053590" y="867410"/>
                    <a:pt x="2052320" y="881380"/>
                  </a:cubicBezTo>
                  <a:cubicBezTo>
                    <a:pt x="2052320" y="894080"/>
                    <a:pt x="2044700" y="911860"/>
                    <a:pt x="2034540" y="922020"/>
                  </a:cubicBezTo>
                  <a:cubicBezTo>
                    <a:pt x="2024380" y="932180"/>
                    <a:pt x="2016760" y="934720"/>
                    <a:pt x="1993900" y="941070"/>
                  </a:cubicBezTo>
                  <a:cubicBezTo>
                    <a:pt x="1887220" y="963930"/>
                    <a:pt x="1291590" y="932180"/>
                    <a:pt x="1064260" y="941070"/>
                  </a:cubicBezTo>
                  <a:cubicBezTo>
                    <a:pt x="933450" y="946150"/>
                    <a:pt x="808990" y="970280"/>
                    <a:pt x="754380" y="963930"/>
                  </a:cubicBezTo>
                  <a:cubicBezTo>
                    <a:pt x="734060" y="961390"/>
                    <a:pt x="722630" y="957580"/>
                    <a:pt x="712470" y="949960"/>
                  </a:cubicBezTo>
                  <a:cubicBezTo>
                    <a:pt x="703580" y="944880"/>
                    <a:pt x="697230" y="937260"/>
                    <a:pt x="694690" y="927100"/>
                  </a:cubicBezTo>
                  <a:cubicBezTo>
                    <a:pt x="689610" y="911860"/>
                    <a:pt x="690880" y="883920"/>
                    <a:pt x="698500" y="869950"/>
                  </a:cubicBezTo>
                  <a:cubicBezTo>
                    <a:pt x="704850" y="857250"/>
                    <a:pt x="715010" y="850900"/>
                    <a:pt x="732790" y="842010"/>
                  </a:cubicBezTo>
                  <a:cubicBezTo>
                    <a:pt x="770890" y="825500"/>
                    <a:pt x="843280" y="817880"/>
                    <a:pt x="928370" y="806450"/>
                  </a:cubicBezTo>
                  <a:cubicBezTo>
                    <a:pt x="1092200" y="787400"/>
                    <a:pt x="1515110" y="787400"/>
                    <a:pt x="1640840" y="763270"/>
                  </a:cubicBezTo>
                  <a:cubicBezTo>
                    <a:pt x="1687830" y="753110"/>
                    <a:pt x="1722120" y="746760"/>
                    <a:pt x="1734820" y="731520"/>
                  </a:cubicBezTo>
                  <a:cubicBezTo>
                    <a:pt x="1741170" y="723900"/>
                    <a:pt x="1733550" y="711200"/>
                    <a:pt x="1739900" y="703580"/>
                  </a:cubicBezTo>
                  <a:cubicBezTo>
                    <a:pt x="1746250" y="693420"/>
                    <a:pt x="1767840" y="684530"/>
                    <a:pt x="1781810" y="681990"/>
                  </a:cubicBezTo>
                  <a:cubicBezTo>
                    <a:pt x="1791970" y="680720"/>
                    <a:pt x="1803400" y="681990"/>
                    <a:pt x="1813560" y="687070"/>
                  </a:cubicBezTo>
                  <a:cubicBezTo>
                    <a:pt x="1824990" y="692150"/>
                    <a:pt x="1841500" y="707390"/>
                    <a:pt x="1847850" y="718820"/>
                  </a:cubicBezTo>
                  <a:cubicBezTo>
                    <a:pt x="1852930" y="727710"/>
                    <a:pt x="1855470" y="739140"/>
                    <a:pt x="1854200" y="749300"/>
                  </a:cubicBezTo>
                  <a:cubicBezTo>
                    <a:pt x="1854200" y="763270"/>
                    <a:pt x="1851660" y="783590"/>
                    <a:pt x="1837690" y="793750"/>
                  </a:cubicBezTo>
                  <a:cubicBezTo>
                    <a:pt x="1804670" y="815340"/>
                    <a:pt x="1709420" y="788670"/>
                    <a:pt x="1616710" y="797560"/>
                  </a:cubicBezTo>
                  <a:cubicBezTo>
                    <a:pt x="1455420" y="814070"/>
                    <a:pt x="1062990" y="952500"/>
                    <a:pt x="953770" y="916940"/>
                  </a:cubicBezTo>
                  <a:cubicBezTo>
                    <a:pt x="910590" y="902970"/>
                    <a:pt x="872490" y="859790"/>
                    <a:pt x="877570" y="838200"/>
                  </a:cubicBezTo>
                  <a:cubicBezTo>
                    <a:pt x="883920" y="814070"/>
                    <a:pt x="953770" y="800100"/>
                    <a:pt x="1024890" y="788670"/>
                  </a:cubicBezTo>
                  <a:cubicBezTo>
                    <a:pt x="1184910" y="760730"/>
                    <a:pt x="1709420" y="801370"/>
                    <a:pt x="1835150" y="777240"/>
                  </a:cubicBezTo>
                  <a:cubicBezTo>
                    <a:pt x="1874520" y="769620"/>
                    <a:pt x="1889760" y="749300"/>
                    <a:pt x="1911350" y="749300"/>
                  </a:cubicBezTo>
                  <a:cubicBezTo>
                    <a:pt x="1927860" y="749300"/>
                    <a:pt x="1944370" y="755650"/>
                    <a:pt x="1954530" y="765810"/>
                  </a:cubicBezTo>
                  <a:cubicBezTo>
                    <a:pt x="1965960" y="775970"/>
                    <a:pt x="1974850" y="792480"/>
                    <a:pt x="1976120" y="806450"/>
                  </a:cubicBezTo>
                  <a:cubicBezTo>
                    <a:pt x="1978660" y="821690"/>
                    <a:pt x="1973580" y="840740"/>
                    <a:pt x="1965960" y="852170"/>
                  </a:cubicBezTo>
                  <a:cubicBezTo>
                    <a:pt x="1957070" y="863600"/>
                    <a:pt x="1944370" y="876300"/>
                    <a:pt x="1927860" y="878840"/>
                  </a:cubicBezTo>
                  <a:cubicBezTo>
                    <a:pt x="1903730" y="882650"/>
                    <a:pt x="1866900" y="859790"/>
                    <a:pt x="1832610" y="853440"/>
                  </a:cubicBezTo>
                  <a:cubicBezTo>
                    <a:pt x="1793240" y="848360"/>
                    <a:pt x="1757680" y="847090"/>
                    <a:pt x="1705610" y="847090"/>
                  </a:cubicBezTo>
                  <a:cubicBezTo>
                    <a:pt x="1625600" y="845820"/>
                    <a:pt x="1511300" y="849630"/>
                    <a:pt x="1397000" y="854710"/>
                  </a:cubicBezTo>
                  <a:cubicBezTo>
                    <a:pt x="1258570" y="862330"/>
                    <a:pt x="1038860" y="877570"/>
                    <a:pt x="932180" y="892810"/>
                  </a:cubicBezTo>
                  <a:cubicBezTo>
                    <a:pt x="875030" y="901700"/>
                    <a:pt x="833120" y="922020"/>
                    <a:pt x="801370" y="919480"/>
                  </a:cubicBezTo>
                  <a:cubicBezTo>
                    <a:pt x="783590" y="916940"/>
                    <a:pt x="770890" y="909320"/>
                    <a:pt x="760730" y="901700"/>
                  </a:cubicBezTo>
                  <a:cubicBezTo>
                    <a:pt x="751840" y="894080"/>
                    <a:pt x="746760" y="886460"/>
                    <a:pt x="744220" y="876300"/>
                  </a:cubicBezTo>
                  <a:cubicBezTo>
                    <a:pt x="741680" y="863600"/>
                    <a:pt x="741680" y="843280"/>
                    <a:pt x="746760" y="830580"/>
                  </a:cubicBezTo>
                  <a:cubicBezTo>
                    <a:pt x="750570" y="820420"/>
                    <a:pt x="753110" y="814070"/>
                    <a:pt x="764540" y="806450"/>
                  </a:cubicBezTo>
                  <a:cubicBezTo>
                    <a:pt x="800100" y="783590"/>
                    <a:pt x="920750" y="763270"/>
                    <a:pt x="1023620" y="745490"/>
                  </a:cubicBezTo>
                  <a:cubicBezTo>
                    <a:pt x="1168400" y="721360"/>
                    <a:pt x="1376680" y="716280"/>
                    <a:pt x="1557020" y="692150"/>
                  </a:cubicBezTo>
                  <a:cubicBezTo>
                    <a:pt x="1742440" y="666750"/>
                    <a:pt x="2004060" y="619760"/>
                    <a:pt x="2117090" y="596900"/>
                  </a:cubicBezTo>
                  <a:cubicBezTo>
                    <a:pt x="2166620" y="585470"/>
                    <a:pt x="2195830" y="584200"/>
                    <a:pt x="2223770" y="570230"/>
                  </a:cubicBezTo>
                  <a:cubicBezTo>
                    <a:pt x="2246630" y="558800"/>
                    <a:pt x="2260600" y="529590"/>
                    <a:pt x="2278380" y="527050"/>
                  </a:cubicBezTo>
                  <a:cubicBezTo>
                    <a:pt x="2292350" y="524510"/>
                    <a:pt x="2310130" y="533400"/>
                    <a:pt x="2320290" y="542290"/>
                  </a:cubicBezTo>
                  <a:cubicBezTo>
                    <a:pt x="2330450" y="552450"/>
                    <a:pt x="2339340" y="568960"/>
                    <a:pt x="2340610" y="581660"/>
                  </a:cubicBezTo>
                  <a:cubicBezTo>
                    <a:pt x="2341880" y="595630"/>
                    <a:pt x="2338070" y="613410"/>
                    <a:pt x="2330450" y="624840"/>
                  </a:cubicBezTo>
                  <a:cubicBezTo>
                    <a:pt x="2321560" y="636270"/>
                    <a:pt x="2311400" y="645160"/>
                    <a:pt x="2293620" y="650240"/>
                  </a:cubicBezTo>
                  <a:cubicBezTo>
                    <a:pt x="2255520" y="659130"/>
                    <a:pt x="2171700" y="628650"/>
                    <a:pt x="2100580" y="629920"/>
                  </a:cubicBezTo>
                  <a:cubicBezTo>
                    <a:pt x="2010410" y="631190"/>
                    <a:pt x="1927860" y="650240"/>
                    <a:pt x="1799590" y="674370"/>
                  </a:cubicBezTo>
                  <a:cubicBezTo>
                    <a:pt x="1565910" y="716280"/>
                    <a:pt x="1093470" y="838200"/>
                    <a:pt x="819150" y="887730"/>
                  </a:cubicBezTo>
                  <a:cubicBezTo>
                    <a:pt x="623570" y="923290"/>
                    <a:pt x="445770" y="933450"/>
                    <a:pt x="312420" y="960120"/>
                  </a:cubicBezTo>
                  <a:cubicBezTo>
                    <a:pt x="224790" y="977900"/>
                    <a:pt x="142240" y="1012190"/>
                    <a:pt x="95250" y="1016000"/>
                  </a:cubicBezTo>
                  <a:cubicBezTo>
                    <a:pt x="72390" y="1017270"/>
                    <a:pt x="59690" y="1016000"/>
                    <a:pt x="45720" y="1009650"/>
                  </a:cubicBezTo>
                  <a:cubicBezTo>
                    <a:pt x="31750" y="1004570"/>
                    <a:pt x="17780" y="994410"/>
                    <a:pt x="10160" y="982980"/>
                  </a:cubicBezTo>
                  <a:cubicBezTo>
                    <a:pt x="3810" y="971550"/>
                    <a:pt x="0" y="952500"/>
                    <a:pt x="2540" y="939800"/>
                  </a:cubicBezTo>
                  <a:cubicBezTo>
                    <a:pt x="5080" y="925830"/>
                    <a:pt x="8890" y="916940"/>
                    <a:pt x="24130" y="901700"/>
                  </a:cubicBezTo>
                  <a:cubicBezTo>
                    <a:pt x="81280" y="850900"/>
                    <a:pt x="342900" y="741680"/>
                    <a:pt x="518160" y="673100"/>
                  </a:cubicBezTo>
                  <a:cubicBezTo>
                    <a:pt x="709930" y="598170"/>
                    <a:pt x="919480" y="537210"/>
                    <a:pt x="1134110" y="478790"/>
                  </a:cubicBezTo>
                  <a:cubicBezTo>
                    <a:pt x="1366520" y="415290"/>
                    <a:pt x="1586230" y="370840"/>
                    <a:pt x="1863090" y="309880"/>
                  </a:cubicBezTo>
                  <a:cubicBezTo>
                    <a:pt x="2232660" y="228600"/>
                    <a:pt x="2899410" y="93980"/>
                    <a:pt x="3154680" y="44450"/>
                  </a:cubicBezTo>
                  <a:cubicBezTo>
                    <a:pt x="3262630" y="24130"/>
                    <a:pt x="3321050" y="7620"/>
                    <a:pt x="3384550" y="3810"/>
                  </a:cubicBezTo>
                  <a:cubicBezTo>
                    <a:pt x="3427730" y="0"/>
                    <a:pt x="3464560" y="1270"/>
                    <a:pt x="3496310" y="7620"/>
                  </a:cubicBezTo>
                  <a:cubicBezTo>
                    <a:pt x="3522980" y="11430"/>
                    <a:pt x="3549650" y="20320"/>
                    <a:pt x="3564890" y="29210"/>
                  </a:cubicBezTo>
                  <a:cubicBezTo>
                    <a:pt x="3575050" y="35560"/>
                    <a:pt x="3581400" y="41910"/>
                    <a:pt x="3586480" y="50800"/>
                  </a:cubicBezTo>
                  <a:cubicBezTo>
                    <a:pt x="3591560" y="62230"/>
                    <a:pt x="3595370" y="81280"/>
                    <a:pt x="3592830" y="93980"/>
                  </a:cubicBezTo>
                  <a:cubicBezTo>
                    <a:pt x="3590290" y="107950"/>
                    <a:pt x="3582670" y="119380"/>
                    <a:pt x="3569970" y="132080"/>
                  </a:cubicBezTo>
                  <a:cubicBezTo>
                    <a:pt x="3548380" y="152400"/>
                    <a:pt x="3503930" y="177800"/>
                    <a:pt x="3458210" y="193040"/>
                  </a:cubicBezTo>
                  <a:cubicBezTo>
                    <a:pt x="3395980" y="212090"/>
                    <a:pt x="3327400" y="213360"/>
                    <a:pt x="3221990" y="220980"/>
                  </a:cubicBezTo>
                  <a:cubicBezTo>
                    <a:pt x="3011170" y="234950"/>
                    <a:pt x="2369820" y="257810"/>
                    <a:pt x="2263140" y="241300"/>
                  </a:cubicBezTo>
                  <a:cubicBezTo>
                    <a:pt x="2241550" y="238760"/>
                    <a:pt x="2235200" y="237490"/>
                    <a:pt x="2225040" y="228600"/>
                  </a:cubicBezTo>
                  <a:cubicBezTo>
                    <a:pt x="2213610" y="218440"/>
                    <a:pt x="2200910" y="191770"/>
                    <a:pt x="2200910" y="176530"/>
                  </a:cubicBezTo>
                  <a:cubicBezTo>
                    <a:pt x="2199640" y="162560"/>
                    <a:pt x="2207260" y="148590"/>
                    <a:pt x="2214880" y="138430"/>
                  </a:cubicBezTo>
                  <a:cubicBezTo>
                    <a:pt x="2222500" y="129540"/>
                    <a:pt x="2236470" y="120650"/>
                    <a:pt x="2249170" y="118110"/>
                  </a:cubicBezTo>
                  <a:cubicBezTo>
                    <a:pt x="2261870" y="115570"/>
                    <a:pt x="2277110" y="115570"/>
                    <a:pt x="2288540" y="121920"/>
                  </a:cubicBezTo>
                  <a:cubicBezTo>
                    <a:pt x="2302510" y="129540"/>
                    <a:pt x="2321560" y="151130"/>
                    <a:pt x="2324100" y="167640"/>
                  </a:cubicBezTo>
                  <a:cubicBezTo>
                    <a:pt x="2327910" y="185420"/>
                    <a:pt x="2317750" y="212090"/>
                    <a:pt x="2306320" y="223520"/>
                  </a:cubicBezTo>
                  <a:cubicBezTo>
                    <a:pt x="2297430" y="233680"/>
                    <a:pt x="2282190" y="240030"/>
                    <a:pt x="2270760" y="241300"/>
                  </a:cubicBezTo>
                  <a:cubicBezTo>
                    <a:pt x="2258060" y="242570"/>
                    <a:pt x="2241550" y="240030"/>
                    <a:pt x="2231390" y="232410"/>
                  </a:cubicBezTo>
                  <a:cubicBezTo>
                    <a:pt x="2217420" y="223520"/>
                    <a:pt x="2202180" y="199390"/>
                    <a:pt x="2200910" y="182880"/>
                  </a:cubicBezTo>
                  <a:cubicBezTo>
                    <a:pt x="2198370" y="168910"/>
                    <a:pt x="2202180" y="154940"/>
                    <a:pt x="2211070" y="143510"/>
                  </a:cubicBezTo>
                  <a:cubicBezTo>
                    <a:pt x="2221230" y="130810"/>
                    <a:pt x="2232660" y="124460"/>
                    <a:pt x="2261870" y="115570"/>
                  </a:cubicBezTo>
                  <a:cubicBezTo>
                    <a:pt x="2381250" y="85090"/>
                    <a:pt x="3007360" y="111760"/>
                    <a:pt x="3208020" y="99060"/>
                  </a:cubicBezTo>
                  <a:cubicBezTo>
                    <a:pt x="3302000" y="92710"/>
                    <a:pt x="3356610" y="90170"/>
                    <a:pt x="3415030" y="74930"/>
                  </a:cubicBezTo>
                  <a:cubicBezTo>
                    <a:pt x="3462020" y="60960"/>
                    <a:pt x="3507740" y="20320"/>
                    <a:pt x="3536950" y="20320"/>
                  </a:cubicBezTo>
                  <a:cubicBezTo>
                    <a:pt x="3553460" y="20320"/>
                    <a:pt x="3567430" y="29210"/>
                    <a:pt x="3576320" y="39370"/>
                  </a:cubicBezTo>
                  <a:cubicBezTo>
                    <a:pt x="3586480" y="49530"/>
                    <a:pt x="3592830" y="67310"/>
                    <a:pt x="3594100" y="80010"/>
                  </a:cubicBezTo>
                  <a:cubicBezTo>
                    <a:pt x="3595370" y="90170"/>
                    <a:pt x="3594100" y="99060"/>
                    <a:pt x="3589020" y="107950"/>
                  </a:cubicBezTo>
                  <a:cubicBezTo>
                    <a:pt x="3582670" y="119380"/>
                    <a:pt x="3573780" y="133350"/>
                    <a:pt x="3557270" y="139700"/>
                  </a:cubicBezTo>
                  <a:cubicBezTo>
                    <a:pt x="3526790" y="148590"/>
                    <a:pt x="3459480" y="115570"/>
                    <a:pt x="3403600" y="116840"/>
                  </a:cubicBezTo>
                  <a:cubicBezTo>
                    <a:pt x="3336290" y="118110"/>
                    <a:pt x="3284220" y="137160"/>
                    <a:pt x="3177540" y="157480"/>
                  </a:cubicBezTo>
                  <a:cubicBezTo>
                    <a:pt x="2923540" y="207010"/>
                    <a:pt x="2256790" y="342900"/>
                    <a:pt x="1889760" y="424180"/>
                  </a:cubicBezTo>
                  <a:cubicBezTo>
                    <a:pt x="1615440" y="483870"/>
                    <a:pt x="1398270" y="528320"/>
                    <a:pt x="1169670" y="590550"/>
                  </a:cubicBezTo>
                  <a:cubicBezTo>
                    <a:pt x="960120" y="648970"/>
                    <a:pt x="756920" y="708660"/>
                    <a:pt x="568960" y="781050"/>
                  </a:cubicBezTo>
                  <a:cubicBezTo>
                    <a:pt x="393700" y="849630"/>
                    <a:pt x="151130" y="1000760"/>
                    <a:pt x="74930" y="1010920"/>
                  </a:cubicBezTo>
                  <a:cubicBezTo>
                    <a:pt x="53340" y="1013460"/>
                    <a:pt x="43180" y="1010920"/>
                    <a:pt x="31750" y="1003300"/>
                  </a:cubicBezTo>
                  <a:cubicBezTo>
                    <a:pt x="20320" y="996950"/>
                    <a:pt x="8890" y="981710"/>
                    <a:pt x="3810" y="969010"/>
                  </a:cubicBezTo>
                  <a:cubicBezTo>
                    <a:pt x="0" y="956310"/>
                    <a:pt x="2540" y="937260"/>
                    <a:pt x="6350" y="925830"/>
                  </a:cubicBezTo>
                  <a:cubicBezTo>
                    <a:pt x="10160" y="915670"/>
                    <a:pt x="12700" y="909320"/>
                    <a:pt x="24130" y="901700"/>
                  </a:cubicBezTo>
                  <a:cubicBezTo>
                    <a:pt x="60960" y="878840"/>
                    <a:pt x="193040" y="863600"/>
                    <a:pt x="298450" y="844550"/>
                  </a:cubicBezTo>
                  <a:cubicBezTo>
                    <a:pt x="438150" y="820420"/>
                    <a:pt x="600710" y="808990"/>
                    <a:pt x="793750" y="773430"/>
                  </a:cubicBezTo>
                  <a:cubicBezTo>
                    <a:pt x="1066800" y="722630"/>
                    <a:pt x="1540510" y="598170"/>
                    <a:pt x="1781810" y="553720"/>
                  </a:cubicBezTo>
                  <a:cubicBezTo>
                    <a:pt x="1918970" y="528320"/>
                    <a:pt x="2012950" y="506730"/>
                    <a:pt x="2105660" y="505460"/>
                  </a:cubicBezTo>
                  <a:cubicBezTo>
                    <a:pt x="2176780" y="504190"/>
                    <a:pt x="2256790" y="514350"/>
                    <a:pt x="2293620" y="529590"/>
                  </a:cubicBezTo>
                  <a:cubicBezTo>
                    <a:pt x="2311400" y="535940"/>
                    <a:pt x="2321560" y="543560"/>
                    <a:pt x="2330450" y="553720"/>
                  </a:cubicBezTo>
                  <a:cubicBezTo>
                    <a:pt x="2336800" y="562610"/>
                    <a:pt x="2339340" y="571500"/>
                    <a:pt x="2340610" y="581660"/>
                  </a:cubicBezTo>
                  <a:cubicBezTo>
                    <a:pt x="2340610" y="594360"/>
                    <a:pt x="2338070" y="610870"/>
                    <a:pt x="2330450" y="624840"/>
                  </a:cubicBezTo>
                  <a:cubicBezTo>
                    <a:pt x="2317750" y="645160"/>
                    <a:pt x="2288540" y="668020"/>
                    <a:pt x="2260600" y="681990"/>
                  </a:cubicBezTo>
                  <a:cubicBezTo>
                    <a:pt x="2227580" y="698500"/>
                    <a:pt x="2194560" y="699770"/>
                    <a:pt x="2138680" y="712470"/>
                  </a:cubicBezTo>
                  <a:cubicBezTo>
                    <a:pt x="2018030" y="736600"/>
                    <a:pt x="1752600" y="784860"/>
                    <a:pt x="1567180" y="811530"/>
                  </a:cubicBezTo>
                  <a:cubicBezTo>
                    <a:pt x="1393190" y="835660"/>
                    <a:pt x="1177290" y="843280"/>
                    <a:pt x="1055370" y="867410"/>
                  </a:cubicBezTo>
                  <a:cubicBezTo>
                    <a:pt x="986790" y="880110"/>
                    <a:pt x="942340" y="902970"/>
                    <a:pt x="897890" y="910590"/>
                  </a:cubicBezTo>
                  <a:cubicBezTo>
                    <a:pt x="867410" y="916940"/>
                    <a:pt x="836930" y="918210"/>
                    <a:pt x="816610" y="918210"/>
                  </a:cubicBezTo>
                  <a:cubicBezTo>
                    <a:pt x="803910" y="918210"/>
                    <a:pt x="796290" y="920750"/>
                    <a:pt x="786130" y="916940"/>
                  </a:cubicBezTo>
                  <a:cubicBezTo>
                    <a:pt x="774700" y="911860"/>
                    <a:pt x="758190" y="902970"/>
                    <a:pt x="750570" y="889000"/>
                  </a:cubicBezTo>
                  <a:cubicBezTo>
                    <a:pt x="742950" y="875030"/>
                    <a:pt x="739140" y="847090"/>
                    <a:pt x="746760" y="830580"/>
                  </a:cubicBezTo>
                  <a:cubicBezTo>
                    <a:pt x="753110" y="815340"/>
                    <a:pt x="770890" y="802640"/>
                    <a:pt x="792480" y="793750"/>
                  </a:cubicBezTo>
                  <a:cubicBezTo>
                    <a:pt x="824230" y="779780"/>
                    <a:pt x="862330" y="781050"/>
                    <a:pt x="925830" y="774700"/>
                  </a:cubicBezTo>
                  <a:cubicBezTo>
                    <a:pt x="1078230" y="758190"/>
                    <a:pt x="1527810" y="707390"/>
                    <a:pt x="1714500" y="718820"/>
                  </a:cubicBezTo>
                  <a:cubicBezTo>
                    <a:pt x="1818640" y="725170"/>
                    <a:pt x="1917700" y="735330"/>
                    <a:pt x="1954530" y="765810"/>
                  </a:cubicBezTo>
                  <a:cubicBezTo>
                    <a:pt x="1972310" y="781050"/>
                    <a:pt x="1977390" y="805180"/>
                    <a:pt x="1976120" y="822960"/>
                  </a:cubicBezTo>
                  <a:cubicBezTo>
                    <a:pt x="1976120" y="838200"/>
                    <a:pt x="1965960" y="854710"/>
                    <a:pt x="1955800" y="863600"/>
                  </a:cubicBezTo>
                  <a:cubicBezTo>
                    <a:pt x="1944370" y="873760"/>
                    <a:pt x="1912620" y="876300"/>
                    <a:pt x="1911350" y="881380"/>
                  </a:cubicBezTo>
                  <a:cubicBezTo>
                    <a:pt x="1911350" y="883920"/>
                    <a:pt x="1925320" y="886460"/>
                    <a:pt x="1925320" y="887730"/>
                  </a:cubicBezTo>
                  <a:cubicBezTo>
                    <a:pt x="1924050" y="894080"/>
                    <a:pt x="1879600" y="899160"/>
                    <a:pt x="1835150" y="902970"/>
                  </a:cubicBezTo>
                  <a:cubicBezTo>
                    <a:pt x="1722120" y="913130"/>
                    <a:pt x="1399540" y="901700"/>
                    <a:pt x="1219200" y="911860"/>
                  </a:cubicBezTo>
                  <a:cubicBezTo>
                    <a:pt x="1076960" y="920750"/>
                    <a:pt x="890270" y="988060"/>
                    <a:pt x="836930" y="949960"/>
                  </a:cubicBezTo>
                  <a:cubicBezTo>
                    <a:pt x="808990" y="930910"/>
                    <a:pt x="798830" y="880110"/>
                    <a:pt x="810260" y="854710"/>
                  </a:cubicBezTo>
                  <a:cubicBezTo>
                    <a:pt x="824230" y="824230"/>
                    <a:pt x="889000" y="805180"/>
                    <a:pt x="939800" y="789940"/>
                  </a:cubicBezTo>
                  <a:cubicBezTo>
                    <a:pt x="1002030" y="769620"/>
                    <a:pt x="1074420" y="773430"/>
                    <a:pt x="1162050" y="758190"/>
                  </a:cubicBezTo>
                  <a:cubicBezTo>
                    <a:pt x="1285240" y="735330"/>
                    <a:pt x="1508760" y="657860"/>
                    <a:pt x="1612900" y="662940"/>
                  </a:cubicBezTo>
                  <a:cubicBezTo>
                    <a:pt x="1668780" y="665480"/>
                    <a:pt x="1705610" y="703580"/>
                    <a:pt x="1739900" y="703580"/>
                  </a:cubicBezTo>
                  <a:cubicBezTo>
                    <a:pt x="1762760" y="702310"/>
                    <a:pt x="1779270" y="679450"/>
                    <a:pt x="1797050" y="681990"/>
                  </a:cubicBezTo>
                  <a:cubicBezTo>
                    <a:pt x="1816100" y="684530"/>
                    <a:pt x="1838960" y="703580"/>
                    <a:pt x="1847850" y="718820"/>
                  </a:cubicBezTo>
                  <a:cubicBezTo>
                    <a:pt x="1855470" y="731520"/>
                    <a:pt x="1855470" y="750570"/>
                    <a:pt x="1852930" y="765810"/>
                  </a:cubicBezTo>
                  <a:cubicBezTo>
                    <a:pt x="1849120" y="781050"/>
                    <a:pt x="1842770" y="797560"/>
                    <a:pt x="1830070" y="811530"/>
                  </a:cubicBezTo>
                  <a:cubicBezTo>
                    <a:pt x="1809750" y="833120"/>
                    <a:pt x="1781810" y="853440"/>
                    <a:pt x="1731010" y="869950"/>
                  </a:cubicBezTo>
                  <a:cubicBezTo>
                    <a:pt x="1597660" y="910590"/>
                    <a:pt x="1134110" y="904240"/>
                    <a:pt x="960120" y="927100"/>
                  </a:cubicBezTo>
                  <a:cubicBezTo>
                    <a:pt x="868680" y="938530"/>
                    <a:pt x="800100" y="969010"/>
                    <a:pt x="754380" y="963930"/>
                  </a:cubicBezTo>
                  <a:cubicBezTo>
                    <a:pt x="730250" y="960120"/>
                    <a:pt x="712470" y="952500"/>
                    <a:pt x="702310" y="939800"/>
                  </a:cubicBezTo>
                  <a:cubicBezTo>
                    <a:pt x="692150" y="925830"/>
                    <a:pt x="688340" y="899160"/>
                    <a:pt x="692150" y="882650"/>
                  </a:cubicBezTo>
                  <a:cubicBezTo>
                    <a:pt x="695960" y="868680"/>
                    <a:pt x="708660" y="855980"/>
                    <a:pt x="720090" y="848360"/>
                  </a:cubicBezTo>
                  <a:cubicBezTo>
                    <a:pt x="727710" y="843280"/>
                    <a:pt x="732790" y="842010"/>
                    <a:pt x="748030" y="839470"/>
                  </a:cubicBezTo>
                  <a:cubicBezTo>
                    <a:pt x="796290" y="831850"/>
                    <a:pt x="930910" y="828040"/>
                    <a:pt x="1064260" y="822960"/>
                  </a:cubicBezTo>
                  <a:cubicBezTo>
                    <a:pt x="1294130" y="816610"/>
                    <a:pt x="1896110" y="787400"/>
                    <a:pt x="2000250" y="815340"/>
                  </a:cubicBezTo>
                  <a:cubicBezTo>
                    <a:pt x="2023110" y="821690"/>
                    <a:pt x="2029460" y="826770"/>
                    <a:pt x="2038350" y="838200"/>
                  </a:cubicBezTo>
                  <a:cubicBezTo>
                    <a:pt x="2047240" y="849630"/>
                    <a:pt x="2053590" y="867410"/>
                    <a:pt x="2052320" y="881380"/>
                  </a:cubicBezTo>
                  <a:cubicBezTo>
                    <a:pt x="2052320" y="894080"/>
                    <a:pt x="2044700" y="911860"/>
                    <a:pt x="2034540" y="922020"/>
                  </a:cubicBezTo>
                  <a:cubicBezTo>
                    <a:pt x="2024380" y="932180"/>
                    <a:pt x="2014220" y="938530"/>
                    <a:pt x="1993900" y="941070"/>
                  </a:cubicBezTo>
                  <a:cubicBezTo>
                    <a:pt x="1944370" y="946150"/>
                    <a:pt x="1838960" y="902970"/>
                    <a:pt x="1731010" y="881380"/>
                  </a:cubicBezTo>
                  <a:cubicBezTo>
                    <a:pt x="1559560" y="848360"/>
                    <a:pt x="1137920" y="801370"/>
                    <a:pt x="1068070" y="773430"/>
                  </a:cubicBezTo>
                  <a:cubicBezTo>
                    <a:pt x="1052830" y="768350"/>
                    <a:pt x="1050290" y="765810"/>
                    <a:pt x="1043940" y="756920"/>
                  </a:cubicBezTo>
                  <a:cubicBezTo>
                    <a:pt x="1036320" y="746760"/>
                    <a:pt x="1027430" y="730250"/>
                    <a:pt x="1028700" y="716280"/>
                  </a:cubicBezTo>
                  <a:cubicBezTo>
                    <a:pt x="1028700" y="699770"/>
                    <a:pt x="1041400" y="675640"/>
                    <a:pt x="1054100" y="665480"/>
                  </a:cubicBezTo>
                  <a:cubicBezTo>
                    <a:pt x="1065530" y="656590"/>
                    <a:pt x="1078230" y="656590"/>
                    <a:pt x="1097280" y="655320"/>
                  </a:cubicBezTo>
                  <a:cubicBezTo>
                    <a:pt x="1130300" y="654050"/>
                    <a:pt x="1179830" y="671830"/>
                    <a:pt x="1240790" y="678180"/>
                  </a:cubicBezTo>
                  <a:cubicBezTo>
                    <a:pt x="1342390" y="688340"/>
                    <a:pt x="1496060" y="692150"/>
                    <a:pt x="1652270" y="693420"/>
                  </a:cubicBezTo>
                  <a:cubicBezTo>
                    <a:pt x="1861820" y="695960"/>
                    <a:pt x="2303780" y="651510"/>
                    <a:pt x="2386330" y="683260"/>
                  </a:cubicBezTo>
                  <a:cubicBezTo>
                    <a:pt x="2406650" y="692150"/>
                    <a:pt x="2413000" y="701040"/>
                    <a:pt x="2419350" y="713740"/>
                  </a:cubicBezTo>
                  <a:cubicBezTo>
                    <a:pt x="2424430" y="726440"/>
                    <a:pt x="2426970" y="744220"/>
                    <a:pt x="2423160" y="758190"/>
                  </a:cubicBezTo>
                  <a:cubicBezTo>
                    <a:pt x="2419350" y="770890"/>
                    <a:pt x="2407920" y="786130"/>
                    <a:pt x="2396490" y="793750"/>
                  </a:cubicBezTo>
                  <a:cubicBezTo>
                    <a:pt x="2385060" y="800100"/>
                    <a:pt x="2367280" y="803910"/>
                    <a:pt x="2353310" y="802640"/>
                  </a:cubicBezTo>
                  <a:cubicBezTo>
                    <a:pt x="2339340" y="800100"/>
                    <a:pt x="2336800" y="789940"/>
                    <a:pt x="2315210" y="782320"/>
                  </a:cubicBezTo>
                  <a:cubicBezTo>
                    <a:pt x="2233930" y="753110"/>
                    <a:pt x="1894840" y="699770"/>
                    <a:pt x="1704340" y="656590"/>
                  </a:cubicBezTo>
                  <a:cubicBezTo>
                    <a:pt x="1535430" y="617220"/>
                    <a:pt x="1384300" y="568960"/>
                    <a:pt x="1229360" y="534670"/>
                  </a:cubicBezTo>
                  <a:cubicBezTo>
                    <a:pt x="1084580" y="501650"/>
                    <a:pt x="858520" y="474980"/>
                    <a:pt x="803910" y="453390"/>
                  </a:cubicBezTo>
                  <a:cubicBezTo>
                    <a:pt x="789940" y="448310"/>
                    <a:pt x="786130" y="445770"/>
                    <a:pt x="779780" y="438150"/>
                  </a:cubicBezTo>
                  <a:cubicBezTo>
                    <a:pt x="772160" y="427990"/>
                    <a:pt x="763270" y="411480"/>
                    <a:pt x="763270" y="397510"/>
                  </a:cubicBezTo>
                  <a:cubicBezTo>
                    <a:pt x="763270" y="384810"/>
                    <a:pt x="769620" y="367030"/>
                    <a:pt x="778510" y="356870"/>
                  </a:cubicBezTo>
                  <a:cubicBezTo>
                    <a:pt x="786130" y="346710"/>
                    <a:pt x="797560" y="340360"/>
                    <a:pt x="815340" y="336550"/>
                  </a:cubicBezTo>
                  <a:cubicBezTo>
                    <a:pt x="859790" y="327660"/>
                    <a:pt x="953770" y="347980"/>
                    <a:pt x="1046480" y="359410"/>
                  </a:cubicBezTo>
                  <a:cubicBezTo>
                    <a:pt x="1186180" y="377190"/>
                    <a:pt x="1384300" y="408940"/>
                    <a:pt x="1570990" y="440690"/>
                  </a:cubicBezTo>
                  <a:cubicBezTo>
                    <a:pt x="1785620" y="478790"/>
                    <a:pt x="2172970" y="537210"/>
                    <a:pt x="2258060" y="571500"/>
                  </a:cubicBezTo>
                  <a:cubicBezTo>
                    <a:pt x="2279650" y="579120"/>
                    <a:pt x="2287270" y="584200"/>
                    <a:pt x="2294890" y="594360"/>
                  </a:cubicBezTo>
                  <a:cubicBezTo>
                    <a:pt x="2302510" y="605790"/>
                    <a:pt x="2307590" y="622300"/>
                    <a:pt x="2307590" y="636270"/>
                  </a:cubicBezTo>
                  <a:cubicBezTo>
                    <a:pt x="2306320" y="650240"/>
                    <a:pt x="2298700" y="666750"/>
                    <a:pt x="2288540" y="675640"/>
                  </a:cubicBezTo>
                  <a:cubicBezTo>
                    <a:pt x="2278380" y="685800"/>
                    <a:pt x="2261870" y="694690"/>
                    <a:pt x="2247900" y="693420"/>
                  </a:cubicBezTo>
                  <a:cubicBezTo>
                    <a:pt x="2233930" y="692150"/>
                    <a:pt x="2227580" y="675640"/>
                    <a:pt x="2205990" y="665480"/>
                  </a:cubicBezTo>
                  <a:cubicBezTo>
                    <a:pt x="2151380" y="642620"/>
                    <a:pt x="2020570" y="613410"/>
                    <a:pt x="1897380" y="591820"/>
                  </a:cubicBezTo>
                  <a:cubicBezTo>
                    <a:pt x="1719580" y="560070"/>
                    <a:pt x="1417320" y="524510"/>
                    <a:pt x="1235710" y="518160"/>
                  </a:cubicBezTo>
                  <a:cubicBezTo>
                    <a:pt x="1108710" y="513080"/>
                    <a:pt x="966470" y="538480"/>
                    <a:pt x="910590" y="529590"/>
                  </a:cubicBezTo>
                  <a:cubicBezTo>
                    <a:pt x="890270" y="525780"/>
                    <a:pt x="880110" y="523240"/>
                    <a:pt x="869950" y="514350"/>
                  </a:cubicBezTo>
                  <a:cubicBezTo>
                    <a:pt x="859790" y="505460"/>
                    <a:pt x="850900" y="488950"/>
                    <a:pt x="850900" y="474980"/>
                  </a:cubicBezTo>
                  <a:cubicBezTo>
                    <a:pt x="849630" y="459740"/>
                    <a:pt x="854710" y="435610"/>
                    <a:pt x="869950" y="422910"/>
                  </a:cubicBezTo>
                  <a:cubicBezTo>
                    <a:pt x="895350" y="401320"/>
                    <a:pt x="944880" y="402590"/>
                    <a:pt x="1013460" y="397510"/>
                  </a:cubicBezTo>
                  <a:cubicBezTo>
                    <a:pt x="1178560" y="382270"/>
                    <a:pt x="1711960" y="382270"/>
                    <a:pt x="1870710" y="394970"/>
                  </a:cubicBezTo>
                  <a:cubicBezTo>
                    <a:pt x="1931670" y="400050"/>
                    <a:pt x="1969770" y="401320"/>
                    <a:pt x="1996440" y="415290"/>
                  </a:cubicBezTo>
                  <a:cubicBezTo>
                    <a:pt x="2012950" y="422910"/>
                    <a:pt x="2021840" y="434340"/>
                    <a:pt x="2028190" y="445770"/>
                  </a:cubicBezTo>
                  <a:cubicBezTo>
                    <a:pt x="2033270" y="454660"/>
                    <a:pt x="2035810" y="463550"/>
                    <a:pt x="2034540" y="473710"/>
                  </a:cubicBezTo>
                  <a:cubicBezTo>
                    <a:pt x="2033270" y="486410"/>
                    <a:pt x="2025650" y="505460"/>
                    <a:pt x="2018030" y="514350"/>
                  </a:cubicBezTo>
                  <a:cubicBezTo>
                    <a:pt x="2011680" y="523240"/>
                    <a:pt x="2007870" y="525780"/>
                    <a:pt x="1992630" y="530860"/>
                  </a:cubicBezTo>
                  <a:cubicBezTo>
                    <a:pt x="1921510" y="557530"/>
                    <a:pt x="1503680" y="582930"/>
                    <a:pt x="1311910" y="610870"/>
                  </a:cubicBezTo>
                  <a:cubicBezTo>
                    <a:pt x="1172210" y="631190"/>
                    <a:pt x="1049020" y="646430"/>
                    <a:pt x="947420" y="674370"/>
                  </a:cubicBezTo>
                  <a:cubicBezTo>
                    <a:pt x="871220" y="694690"/>
                    <a:pt x="797560" y="745490"/>
                    <a:pt x="754380" y="745490"/>
                  </a:cubicBezTo>
                  <a:cubicBezTo>
                    <a:pt x="731520" y="745490"/>
                    <a:pt x="716280" y="735330"/>
                    <a:pt x="703580" y="725170"/>
                  </a:cubicBezTo>
                  <a:cubicBezTo>
                    <a:pt x="693420" y="717550"/>
                    <a:pt x="687070" y="707390"/>
                    <a:pt x="683260" y="694690"/>
                  </a:cubicBezTo>
                  <a:cubicBezTo>
                    <a:pt x="679450" y="680720"/>
                    <a:pt x="678180" y="656590"/>
                    <a:pt x="684530" y="641350"/>
                  </a:cubicBezTo>
                  <a:cubicBezTo>
                    <a:pt x="690880" y="626110"/>
                    <a:pt x="699770" y="610870"/>
                    <a:pt x="721360" y="601980"/>
                  </a:cubicBezTo>
                  <a:cubicBezTo>
                    <a:pt x="763270" y="581660"/>
                    <a:pt x="895350" y="591820"/>
                    <a:pt x="961390" y="598170"/>
                  </a:cubicBezTo>
                  <a:cubicBezTo>
                    <a:pt x="1007110" y="603250"/>
                    <a:pt x="1050290" y="608330"/>
                    <a:pt x="1075690" y="623570"/>
                  </a:cubicBezTo>
                  <a:cubicBezTo>
                    <a:pt x="1093470" y="635000"/>
                    <a:pt x="1104900" y="650240"/>
                    <a:pt x="1111250" y="664210"/>
                  </a:cubicBezTo>
                  <a:cubicBezTo>
                    <a:pt x="1116330" y="675640"/>
                    <a:pt x="1116330" y="688340"/>
                    <a:pt x="1115060" y="699770"/>
                  </a:cubicBezTo>
                  <a:cubicBezTo>
                    <a:pt x="1113790" y="711200"/>
                    <a:pt x="1109980" y="722630"/>
                    <a:pt x="1102360" y="732790"/>
                  </a:cubicBezTo>
                  <a:cubicBezTo>
                    <a:pt x="1093470" y="745490"/>
                    <a:pt x="1083310" y="755650"/>
                    <a:pt x="1059180" y="763270"/>
                  </a:cubicBezTo>
                  <a:cubicBezTo>
                    <a:pt x="984250" y="786130"/>
                    <a:pt x="632460" y="779780"/>
                    <a:pt x="553720" y="762000"/>
                  </a:cubicBezTo>
                  <a:cubicBezTo>
                    <a:pt x="528320" y="755650"/>
                    <a:pt x="516890" y="748030"/>
                    <a:pt x="505460" y="737870"/>
                  </a:cubicBezTo>
                  <a:cubicBezTo>
                    <a:pt x="496570" y="728980"/>
                    <a:pt x="490220" y="718820"/>
                    <a:pt x="487680" y="706120"/>
                  </a:cubicBezTo>
                  <a:cubicBezTo>
                    <a:pt x="483870" y="690880"/>
                    <a:pt x="485140" y="668020"/>
                    <a:pt x="492760" y="651510"/>
                  </a:cubicBezTo>
                  <a:cubicBezTo>
                    <a:pt x="499110" y="637540"/>
                    <a:pt x="508000" y="626110"/>
                    <a:pt x="528320" y="614680"/>
                  </a:cubicBezTo>
                  <a:cubicBezTo>
                    <a:pt x="580390" y="585470"/>
                    <a:pt x="788670" y="520700"/>
                    <a:pt x="849630" y="539750"/>
                  </a:cubicBezTo>
                  <a:cubicBezTo>
                    <a:pt x="880110" y="549910"/>
                    <a:pt x="913130" y="593090"/>
                    <a:pt x="906780" y="603250"/>
                  </a:cubicBezTo>
                  <a:cubicBezTo>
                    <a:pt x="892810" y="628650"/>
                    <a:pt x="521970" y="548640"/>
                    <a:pt x="468630" y="516890"/>
                  </a:cubicBezTo>
                  <a:cubicBezTo>
                    <a:pt x="453390" y="508000"/>
                    <a:pt x="450850" y="500380"/>
                    <a:pt x="445770" y="488950"/>
                  </a:cubicBezTo>
                  <a:cubicBezTo>
                    <a:pt x="440690" y="473710"/>
                    <a:pt x="436880" y="450850"/>
                    <a:pt x="441960" y="434340"/>
                  </a:cubicBezTo>
                  <a:cubicBezTo>
                    <a:pt x="447040" y="417830"/>
                    <a:pt x="461010" y="400050"/>
                    <a:pt x="474980" y="391160"/>
                  </a:cubicBezTo>
                  <a:cubicBezTo>
                    <a:pt x="488950" y="382270"/>
                    <a:pt x="528320" y="381000"/>
                    <a:pt x="528320" y="381000"/>
                  </a:cubicBezTo>
                </a:path>
              </a:pathLst>
            </a:custGeom>
            <a:solidFill>
              <a:srgbClr val="faf8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28" name="Group 7"/>
          <p:cNvGrpSpPr/>
          <p:nvPr/>
        </p:nvGrpSpPr>
        <p:grpSpPr>
          <a:xfrm>
            <a:off x="2438280" y="2871360"/>
            <a:ext cx="8407440" cy="3865320"/>
            <a:chOff x="2438280" y="2871360"/>
            <a:chExt cx="8407440" cy="3865320"/>
          </a:xfrm>
        </p:grpSpPr>
        <p:sp>
          <p:nvSpPr>
            <p:cNvPr id="429" name="Freeform 8"/>
            <p:cNvSpPr/>
            <p:nvPr/>
          </p:nvSpPr>
          <p:spPr>
            <a:xfrm>
              <a:off x="2438280" y="2871360"/>
              <a:ext cx="8407440" cy="3865320"/>
            </a:xfrm>
            <a:custGeom>
              <a:avLst/>
              <a:gdLst>
                <a:gd name="textAreaLeft" fmla="*/ 0 w 8407440"/>
                <a:gd name="textAreaRight" fmla="*/ 8408160 w 8407440"/>
                <a:gd name="textAreaTop" fmla="*/ 0 h 3865320"/>
                <a:gd name="textAreaBottom" fmla="*/ 3866040 h 3865320"/>
              </a:gdLst>
              <a:ahLst/>
              <a:rect l="textAreaLeft" t="textAreaTop" r="textAreaRight" b="textAreaBottom"/>
              <a:pathLst>
                <a:path w="7058660" h="1134110">
                  <a:moveTo>
                    <a:pt x="485140" y="118110"/>
                  </a:moveTo>
                  <a:cubicBezTo>
                    <a:pt x="1664970" y="226060"/>
                    <a:pt x="1849120" y="217170"/>
                    <a:pt x="2030730" y="208280"/>
                  </a:cubicBezTo>
                  <a:cubicBezTo>
                    <a:pt x="2189480" y="200660"/>
                    <a:pt x="2298700" y="191770"/>
                    <a:pt x="2475230" y="171450"/>
                  </a:cubicBezTo>
                  <a:cubicBezTo>
                    <a:pt x="2738120" y="140970"/>
                    <a:pt x="3180080" y="52070"/>
                    <a:pt x="3451860" y="27940"/>
                  </a:cubicBezTo>
                  <a:cubicBezTo>
                    <a:pt x="3643630" y="11430"/>
                    <a:pt x="3749040" y="15240"/>
                    <a:pt x="3947160" y="13970"/>
                  </a:cubicBezTo>
                  <a:cubicBezTo>
                    <a:pt x="4240530" y="10160"/>
                    <a:pt x="4677410" y="25400"/>
                    <a:pt x="5038090" y="25400"/>
                  </a:cubicBezTo>
                  <a:cubicBezTo>
                    <a:pt x="5392420" y="24130"/>
                    <a:pt x="5800090" y="0"/>
                    <a:pt x="6092190" y="12700"/>
                  </a:cubicBezTo>
                  <a:cubicBezTo>
                    <a:pt x="6301740" y="21590"/>
                    <a:pt x="6506210" y="39370"/>
                    <a:pt x="6629400" y="64770"/>
                  </a:cubicBezTo>
                  <a:cubicBezTo>
                    <a:pt x="6696710" y="78740"/>
                    <a:pt x="6736080" y="88900"/>
                    <a:pt x="6783070" y="113030"/>
                  </a:cubicBezTo>
                  <a:cubicBezTo>
                    <a:pt x="6830060" y="137160"/>
                    <a:pt x="6875780" y="170180"/>
                    <a:pt x="6912610" y="208280"/>
                  </a:cubicBezTo>
                  <a:cubicBezTo>
                    <a:pt x="6949440" y="246380"/>
                    <a:pt x="6982460" y="292100"/>
                    <a:pt x="7005320" y="339090"/>
                  </a:cubicBezTo>
                  <a:cubicBezTo>
                    <a:pt x="7028180" y="387350"/>
                    <a:pt x="7044690" y="440690"/>
                    <a:pt x="7052310" y="494030"/>
                  </a:cubicBezTo>
                  <a:cubicBezTo>
                    <a:pt x="7058660" y="546100"/>
                    <a:pt x="7056120" y="601980"/>
                    <a:pt x="7045960" y="654050"/>
                  </a:cubicBezTo>
                  <a:cubicBezTo>
                    <a:pt x="7035800" y="706120"/>
                    <a:pt x="7015480" y="759460"/>
                    <a:pt x="6990080" y="805180"/>
                  </a:cubicBezTo>
                  <a:cubicBezTo>
                    <a:pt x="6963410" y="850900"/>
                    <a:pt x="6927850" y="894080"/>
                    <a:pt x="6887210" y="929640"/>
                  </a:cubicBezTo>
                  <a:cubicBezTo>
                    <a:pt x="6847840" y="965200"/>
                    <a:pt x="6800850" y="994410"/>
                    <a:pt x="6751320" y="1014730"/>
                  </a:cubicBezTo>
                  <a:cubicBezTo>
                    <a:pt x="6703060" y="1036320"/>
                    <a:pt x="6648450" y="1049020"/>
                    <a:pt x="6595110" y="1052830"/>
                  </a:cubicBezTo>
                  <a:cubicBezTo>
                    <a:pt x="6541770" y="1056640"/>
                    <a:pt x="6485890" y="1051560"/>
                    <a:pt x="6435090" y="1038860"/>
                  </a:cubicBezTo>
                  <a:cubicBezTo>
                    <a:pt x="6384290" y="1024890"/>
                    <a:pt x="6332220" y="1002030"/>
                    <a:pt x="6287770" y="974090"/>
                  </a:cubicBezTo>
                  <a:cubicBezTo>
                    <a:pt x="6243320" y="944880"/>
                    <a:pt x="6201410" y="906780"/>
                    <a:pt x="6168390" y="864870"/>
                  </a:cubicBezTo>
                  <a:cubicBezTo>
                    <a:pt x="6135370" y="824230"/>
                    <a:pt x="6108700" y="774700"/>
                    <a:pt x="6090920" y="725170"/>
                  </a:cubicBezTo>
                  <a:cubicBezTo>
                    <a:pt x="6073140" y="674370"/>
                    <a:pt x="6062980" y="619760"/>
                    <a:pt x="6061710" y="566420"/>
                  </a:cubicBezTo>
                  <a:cubicBezTo>
                    <a:pt x="6060440" y="513080"/>
                    <a:pt x="6068060" y="457200"/>
                    <a:pt x="6084570" y="407670"/>
                  </a:cubicBezTo>
                  <a:cubicBezTo>
                    <a:pt x="6101080" y="356870"/>
                    <a:pt x="6126480" y="306070"/>
                    <a:pt x="6156960" y="264160"/>
                  </a:cubicBezTo>
                  <a:cubicBezTo>
                    <a:pt x="6188710" y="220980"/>
                    <a:pt x="6228080" y="181610"/>
                    <a:pt x="6271260" y="151130"/>
                  </a:cubicBezTo>
                  <a:cubicBezTo>
                    <a:pt x="6314440" y="120650"/>
                    <a:pt x="6365240" y="95250"/>
                    <a:pt x="6416040" y="81280"/>
                  </a:cubicBezTo>
                  <a:cubicBezTo>
                    <a:pt x="6466840" y="66040"/>
                    <a:pt x="6522720" y="58420"/>
                    <a:pt x="6576060" y="59690"/>
                  </a:cubicBezTo>
                  <a:cubicBezTo>
                    <a:pt x="6629400" y="62230"/>
                    <a:pt x="6684010" y="73660"/>
                    <a:pt x="6733540" y="91440"/>
                  </a:cubicBezTo>
                  <a:cubicBezTo>
                    <a:pt x="6783070" y="110490"/>
                    <a:pt x="6832600" y="138430"/>
                    <a:pt x="6873240" y="171450"/>
                  </a:cubicBezTo>
                  <a:cubicBezTo>
                    <a:pt x="6913880" y="205740"/>
                    <a:pt x="6951980" y="247650"/>
                    <a:pt x="6979920" y="292100"/>
                  </a:cubicBezTo>
                  <a:cubicBezTo>
                    <a:pt x="7007860" y="337820"/>
                    <a:pt x="7029450" y="389890"/>
                    <a:pt x="7042150" y="440690"/>
                  </a:cubicBezTo>
                  <a:cubicBezTo>
                    <a:pt x="7054850" y="492760"/>
                    <a:pt x="7058660" y="548640"/>
                    <a:pt x="7053580" y="600710"/>
                  </a:cubicBezTo>
                  <a:cubicBezTo>
                    <a:pt x="7048500" y="654050"/>
                    <a:pt x="7034530" y="708660"/>
                    <a:pt x="7014210" y="756920"/>
                  </a:cubicBezTo>
                  <a:cubicBezTo>
                    <a:pt x="6992620" y="805180"/>
                    <a:pt x="6962140" y="852170"/>
                    <a:pt x="6926580" y="891540"/>
                  </a:cubicBezTo>
                  <a:cubicBezTo>
                    <a:pt x="6889750" y="930910"/>
                    <a:pt x="6846570" y="966470"/>
                    <a:pt x="6799580" y="991870"/>
                  </a:cubicBezTo>
                  <a:cubicBezTo>
                    <a:pt x="6753860" y="1017270"/>
                    <a:pt x="6700520" y="1036320"/>
                    <a:pt x="6648450" y="1046480"/>
                  </a:cubicBezTo>
                  <a:cubicBezTo>
                    <a:pt x="6596380" y="1055370"/>
                    <a:pt x="6548120" y="1052830"/>
                    <a:pt x="6487160" y="1049020"/>
                  </a:cubicBezTo>
                  <a:cubicBezTo>
                    <a:pt x="6407150" y="1043940"/>
                    <a:pt x="6314440" y="1014730"/>
                    <a:pt x="6205220" y="1005840"/>
                  </a:cubicBezTo>
                  <a:cubicBezTo>
                    <a:pt x="6057900" y="993140"/>
                    <a:pt x="5885180" y="995680"/>
                    <a:pt x="5684520" y="993140"/>
                  </a:cubicBezTo>
                  <a:cubicBezTo>
                    <a:pt x="5406390" y="990600"/>
                    <a:pt x="4959350" y="1005840"/>
                    <a:pt x="4696460" y="999490"/>
                  </a:cubicBezTo>
                  <a:cubicBezTo>
                    <a:pt x="4521200" y="995680"/>
                    <a:pt x="4411980" y="980440"/>
                    <a:pt x="4258310" y="975360"/>
                  </a:cubicBezTo>
                  <a:cubicBezTo>
                    <a:pt x="4089400" y="970280"/>
                    <a:pt x="3900170" y="966470"/>
                    <a:pt x="3726180" y="971550"/>
                  </a:cubicBezTo>
                  <a:cubicBezTo>
                    <a:pt x="3558540" y="975360"/>
                    <a:pt x="3423920" y="984250"/>
                    <a:pt x="3230880" y="1002030"/>
                  </a:cubicBezTo>
                  <a:cubicBezTo>
                    <a:pt x="2957830" y="1027430"/>
                    <a:pt x="2515870" y="1107440"/>
                    <a:pt x="2247900" y="1123950"/>
                  </a:cubicBezTo>
                  <a:cubicBezTo>
                    <a:pt x="2063750" y="1134110"/>
                    <a:pt x="1932940" y="1126490"/>
                    <a:pt x="1779270" y="1121410"/>
                  </a:cubicBezTo>
                  <a:cubicBezTo>
                    <a:pt x="1628140" y="1116330"/>
                    <a:pt x="1480820" y="1111250"/>
                    <a:pt x="1334770" y="1097280"/>
                  </a:cubicBezTo>
                  <a:cubicBezTo>
                    <a:pt x="1188720" y="1083310"/>
                    <a:pt x="1051560" y="1056640"/>
                    <a:pt x="901700" y="1040130"/>
                  </a:cubicBezTo>
                  <a:cubicBezTo>
                    <a:pt x="740410" y="1022350"/>
                    <a:pt x="502920" y="1012190"/>
                    <a:pt x="398780" y="995680"/>
                  </a:cubicBezTo>
                  <a:cubicBezTo>
                    <a:pt x="350520" y="988060"/>
                    <a:pt x="328930" y="984250"/>
                    <a:pt x="295910" y="972820"/>
                  </a:cubicBezTo>
                  <a:cubicBezTo>
                    <a:pt x="261620" y="961390"/>
                    <a:pt x="229870" y="944880"/>
                    <a:pt x="200660" y="925830"/>
                  </a:cubicBezTo>
                  <a:cubicBezTo>
                    <a:pt x="170180" y="905510"/>
                    <a:pt x="143510" y="882650"/>
                    <a:pt x="119380" y="857250"/>
                  </a:cubicBezTo>
                  <a:cubicBezTo>
                    <a:pt x="95250" y="830580"/>
                    <a:pt x="73660" y="801370"/>
                    <a:pt x="57150" y="770890"/>
                  </a:cubicBezTo>
                  <a:cubicBezTo>
                    <a:pt x="39370" y="740410"/>
                    <a:pt x="25400" y="706120"/>
                    <a:pt x="16510" y="671830"/>
                  </a:cubicBezTo>
                  <a:cubicBezTo>
                    <a:pt x="7620" y="638810"/>
                    <a:pt x="2540" y="601980"/>
                    <a:pt x="1270" y="567690"/>
                  </a:cubicBezTo>
                  <a:cubicBezTo>
                    <a:pt x="0" y="532130"/>
                    <a:pt x="3810" y="496570"/>
                    <a:pt x="11430" y="462280"/>
                  </a:cubicBezTo>
                  <a:cubicBezTo>
                    <a:pt x="19050" y="426720"/>
                    <a:pt x="31750" y="392430"/>
                    <a:pt x="46990" y="361950"/>
                  </a:cubicBezTo>
                  <a:cubicBezTo>
                    <a:pt x="62230" y="330200"/>
                    <a:pt x="82550" y="299720"/>
                    <a:pt x="105410" y="273050"/>
                  </a:cubicBezTo>
                  <a:cubicBezTo>
                    <a:pt x="128270" y="246380"/>
                    <a:pt x="154940" y="220980"/>
                    <a:pt x="182880" y="200660"/>
                  </a:cubicBezTo>
                  <a:cubicBezTo>
                    <a:pt x="212090" y="180340"/>
                    <a:pt x="243840" y="162560"/>
                    <a:pt x="275590" y="148590"/>
                  </a:cubicBezTo>
                  <a:cubicBezTo>
                    <a:pt x="308610" y="135890"/>
                    <a:pt x="344170" y="125730"/>
                    <a:pt x="378460" y="120650"/>
                  </a:cubicBezTo>
                  <a:cubicBezTo>
                    <a:pt x="412750" y="115570"/>
                    <a:pt x="485140" y="118110"/>
                    <a:pt x="485140" y="118110"/>
                  </a:cubicBezTo>
                </a:path>
              </a:pathLst>
            </a:custGeom>
            <a:solidFill>
              <a:srgbClr val="faf8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430" name="Group 9"/>
          <p:cNvGrpSpPr/>
          <p:nvPr/>
        </p:nvGrpSpPr>
        <p:grpSpPr>
          <a:xfrm>
            <a:off x="2932920" y="4051800"/>
            <a:ext cx="855720" cy="902160"/>
            <a:chOff x="2932920" y="4051800"/>
            <a:chExt cx="855720" cy="902160"/>
          </a:xfrm>
        </p:grpSpPr>
        <p:sp>
          <p:nvSpPr>
            <p:cNvPr id="431" name="Freeform 10"/>
            <p:cNvSpPr/>
            <p:nvPr/>
          </p:nvSpPr>
          <p:spPr>
            <a:xfrm>
              <a:off x="2932920" y="4051800"/>
              <a:ext cx="855720" cy="902160"/>
            </a:xfrm>
            <a:custGeom>
              <a:avLst/>
              <a:gdLst>
                <a:gd name="textAreaLeft" fmla="*/ 0 w 855720"/>
                <a:gd name="textAreaRight" fmla="*/ 856440 w 855720"/>
                <a:gd name="textAreaTop" fmla="*/ 0 h 902160"/>
                <a:gd name="textAreaBottom" fmla="*/ 902880 h 902160"/>
              </a:gdLst>
              <a:ahLst/>
              <a:rect l="textAreaLeft" t="textAreaTop" r="textAreaRight" b="textAreaBottom"/>
              <a:pathLst>
                <a:path w="1141730" h="1203960">
                  <a:moveTo>
                    <a:pt x="802640" y="194310"/>
                  </a:moveTo>
                  <a:cubicBezTo>
                    <a:pt x="937260" y="381000"/>
                    <a:pt x="984250" y="411480"/>
                    <a:pt x="1017270" y="450850"/>
                  </a:cubicBezTo>
                  <a:cubicBezTo>
                    <a:pt x="1049020" y="487680"/>
                    <a:pt x="1078230" y="527050"/>
                    <a:pt x="1097280" y="568960"/>
                  </a:cubicBezTo>
                  <a:cubicBezTo>
                    <a:pt x="1117600" y="612140"/>
                    <a:pt x="1131570" y="661670"/>
                    <a:pt x="1136650" y="708660"/>
                  </a:cubicBezTo>
                  <a:cubicBezTo>
                    <a:pt x="1141730" y="755650"/>
                    <a:pt x="1139190" y="805180"/>
                    <a:pt x="1129030" y="852170"/>
                  </a:cubicBezTo>
                  <a:cubicBezTo>
                    <a:pt x="1118870" y="897890"/>
                    <a:pt x="1099820" y="944880"/>
                    <a:pt x="1075690" y="985520"/>
                  </a:cubicBezTo>
                  <a:cubicBezTo>
                    <a:pt x="1051560" y="1026160"/>
                    <a:pt x="1018540" y="1065530"/>
                    <a:pt x="982980" y="1096010"/>
                  </a:cubicBezTo>
                  <a:cubicBezTo>
                    <a:pt x="947420" y="1126490"/>
                    <a:pt x="902970" y="1151890"/>
                    <a:pt x="859790" y="1169670"/>
                  </a:cubicBezTo>
                  <a:cubicBezTo>
                    <a:pt x="815340" y="1187450"/>
                    <a:pt x="765810" y="1198880"/>
                    <a:pt x="718820" y="1201420"/>
                  </a:cubicBezTo>
                  <a:cubicBezTo>
                    <a:pt x="671830" y="1203960"/>
                    <a:pt x="621030" y="1198880"/>
                    <a:pt x="575310" y="1186180"/>
                  </a:cubicBezTo>
                  <a:cubicBezTo>
                    <a:pt x="529590" y="1173480"/>
                    <a:pt x="483870" y="1151890"/>
                    <a:pt x="444500" y="1125220"/>
                  </a:cubicBezTo>
                  <a:cubicBezTo>
                    <a:pt x="406400" y="1098550"/>
                    <a:pt x="369570" y="1064260"/>
                    <a:pt x="340360" y="1026160"/>
                  </a:cubicBezTo>
                  <a:cubicBezTo>
                    <a:pt x="311150" y="989330"/>
                    <a:pt x="288290" y="944880"/>
                    <a:pt x="273050" y="899160"/>
                  </a:cubicBezTo>
                  <a:cubicBezTo>
                    <a:pt x="257810" y="854710"/>
                    <a:pt x="248920" y="805180"/>
                    <a:pt x="248920" y="756920"/>
                  </a:cubicBezTo>
                  <a:cubicBezTo>
                    <a:pt x="248920" y="709930"/>
                    <a:pt x="257810" y="660400"/>
                    <a:pt x="273050" y="615950"/>
                  </a:cubicBezTo>
                  <a:cubicBezTo>
                    <a:pt x="287020" y="570230"/>
                    <a:pt x="311150" y="525780"/>
                    <a:pt x="340360" y="487680"/>
                  </a:cubicBezTo>
                  <a:cubicBezTo>
                    <a:pt x="368300" y="450850"/>
                    <a:pt x="405130" y="415290"/>
                    <a:pt x="444500" y="388620"/>
                  </a:cubicBezTo>
                  <a:cubicBezTo>
                    <a:pt x="483870" y="361950"/>
                    <a:pt x="529590" y="341630"/>
                    <a:pt x="575310" y="328930"/>
                  </a:cubicBezTo>
                  <a:cubicBezTo>
                    <a:pt x="619760" y="316230"/>
                    <a:pt x="670560" y="309880"/>
                    <a:pt x="717550" y="312420"/>
                  </a:cubicBezTo>
                  <a:cubicBezTo>
                    <a:pt x="764540" y="314960"/>
                    <a:pt x="814070" y="326390"/>
                    <a:pt x="858520" y="342900"/>
                  </a:cubicBezTo>
                  <a:cubicBezTo>
                    <a:pt x="902970" y="360680"/>
                    <a:pt x="946150" y="387350"/>
                    <a:pt x="981710" y="417830"/>
                  </a:cubicBezTo>
                  <a:cubicBezTo>
                    <a:pt x="1018540" y="448310"/>
                    <a:pt x="1050290" y="486410"/>
                    <a:pt x="1075690" y="527050"/>
                  </a:cubicBezTo>
                  <a:cubicBezTo>
                    <a:pt x="1099820" y="567690"/>
                    <a:pt x="1118870" y="614680"/>
                    <a:pt x="1129030" y="660400"/>
                  </a:cubicBezTo>
                  <a:cubicBezTo>
                    <a:pt x="1139190" y="707390"/>
                    <a:pt x="1141730" y="756920"/>
                    <a:pt x="1136650" y="803910"/>
                  </a:cubicBezTo>
                  <a:cubicBezTo>
                    <a:pt x="1131570" y="852170"/>
                    <a:pt x="1118870" y="900430"/>
                    <a:pt x="1098550" y="943610"/>
                  </a:cubicBezTo>
                  <a:cubicBezTo>
                    <a:pt x="1078230" y="986790"/>
                    <a:pt x="1050290" y="1028700"/>
                    <a:pt x="1017270" y="1062990"/>
                  </a:cubicBezTo>
                  <a:cubicBezTo>
                    <a:pt x="985520" y="1097280"/>
                    <a:pt x="944880" y="1127760"/>
                    <a:pt x="902970" y="1149350"/>
                  </a:cubicBezTo>
                  <a:cubicBezTo>
                    <a:pt x="861060" y="1172210"/>
                    <a:pt x="814070" y="1188720"/>
                    <a:pt x="767080" y="1196340"/>
                  </a:cubicBezTo>
                  <a:cubicBezTo>
                    <a:pt x="720090" y="1203960"/>
                    <a:pt x="669290" y="1203960"/>
                    <a:pt x="622300" y="1196340"/>
                  </a:cubicBezTo>
                  <a:cubicBezTo>
                    <a:pt x="576580" y="1188720"/>
                    <a:pt x="528320" y="1172210"/>
                    <a:pt x="486410" y="1150620"/>
                  </a:cubicBezTo>
                  <a:cubicBezTo>
                    <a:pt x="444500" y="1127760"/>
                    <a:pt x="412750" y="1102360"/>
                    <a:pt x="372110" y="1062990"/>
                  </a:cubicBezTo>
                  <a:cubicBezTo>
                    <a:pt x="311150" y="1007110"/>
                    <a:pt x="228600" y="910590"/>
                    <a:pt x="170180" y="829310"/>
                  </a:cubicBezTo>
                  <a:cubicBezTo>
                    <a:pt x="115570" y="750570"/>
                    <a:pt x="53340" y="651510"/>
                    <a:pt x="27940" y="585470"/>
                  </a:cubicBezTo>
                  <a:cubicBezTo>
                    <a:pt x="11430" y="546100"/>
                    <a:pt x="7620" y="518160"/>
                    <a:pt x="3810" y="482600"/>
                  </a:cubicBezTo>
                  <a:cubicBezTo>
                    <a:pt x="0" y="448310"/>
                    <a:pt x="1270" y="411480"/>
                    <a:pt x="6350" y="377190"/>
                  </a:cubicBezTo>
                  <a:cubicBezTo>
                    <a:pt x="10160" y="342900"/>
                    <a:pt x="20320" y="308610"/>
                    <a:pt x="33020" y="275590"/>
                  </a:cubicBezTo>
                  <a:cubicBezTo>
                    <a:pt x="45720" y="243840"/>
                    <a:pt x="62230" y="212090"/>
                    <a:pt x="82550" y="182880"/>
                  </a:cubicBezTo>
                  <a:cubicBezTo>
                    <a:pt x="102870" y="154940"/>
                    <a:pt x="128270" y="128270"/>
                    <a:pt x="153670" y="105410"/>
                  </a:cubicBezTo>
                  <a:cubicBezTo>
                    <a:pt x="180340" y="82550"/>
                    <a:pt x="210820" y="63500"/>
                    <a:pt x="241300" y="46990"/>
                  </a:cubicBezTo>
                  <a:cubicBezTo>
                    <a:pt x="273050" y="31750"/>
                    <a:pt x="307340" y="19050"/>
                    <a:pt x="340360" y="11430"/>
                  </a:cubicBezTo>
                  <a:cubicBezTo>
                    <a:pt x="374650" y="3810"/>
                    <a:pt x="410210" y="0"/>
                    <a:pt x="445770" y="0"/>
                  </a:cubicBezTo>
                  <a:cubicBezTo>
                    <a:pt x="480060" y="1270"/>
                    <a:pt x="516890" y="6350"/>
                    <a:pt x="549910" y="15240"/>
                  </a:cubicBezTo>
                  <a:cubicBezTo>
                    <a:pt x="584200" y="24130"/>
                    <a:pt x="617220" y="36830"/>
                    <a:pt x="647700" y="53340"/>
                  </a:cubicBezTo>
                  <a:cubicBezTo>
                    <a:pt x="678180" y="69850"/>
                    <a:pt x="707390" y="91440"/>
                    <a:pt x="734060" y="115570"/>
                  </a:cubicBezTo>
                  <a:cubicBezTo>
                    <a:pt x="759460" y="138430"/>
                    <a:pt x="802640" y="195580"/>
                    <a:pt x="802640" y="195580"/>
                  </a:cubicBezTo>
                </a:path>
              </a:pathLst>
            </a:custGeom>
            <a:solidFill>
              <a:srgbClr val="faf8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32" name="TextBox 11"/>
          <p:cNvSpPr/>
          <p:nvPr/>
        </p:nvSpPr>
        <p:spPr>
          <a:xfrm>
            <a:off x="5524560" y="4327560"/>
            <a:ext cx="77130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41"/>
              </a:lnSpc>
            </a:pPr>
            <a:r>
              <a:rPr b="1" lang="en-US" sz="6600" spc="-1" strike="noStrike">
                <a:solidFill>
                  <a:srgbClr val="000000"/>
                </a:solidFill>
                <a:latin typeface="Times New Roman Bold"/>
                <a:ea typeface="Times New Roman Bold"/>
              </a:rPr>
              <a:t>THANK YOU</a:t>
            </a:r>
            <a:endParaRPr b="0" lang="en-IN" sz="6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1480</TotalTime>
  <Application>LibreOffice/7.6.4.1$Windows_X86_64 LibreOffice_project/e19e193f88cd6c0525a17fb7a176ed8e6a3e2aa1</Application>
  <AppVersion>15.0000</AppVersion>
  <Words>1966</Words>
  <Paragraphs>294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asus</dc:creator>
  <dc:description/>
  <dc:identifier>DAGuzl4jj4U</dc:identifier>
  <dc:language>en-IN</dc:language>
  <cp:lastModifiedBy/>
  <dcterms:modified xsi:type="dcterms:W3CDTF">2026-02-13T08:46:48Z</dcterms:modified>
  <cp:revision>113</cp:revision>
  <dc:subject/>
  <dc:title>Oracle_Case study presentation Template.pptx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– Oracle Internal</vt:lpwstr>
  </property>
  <property fmtid="{D5CDD505-2E9C-101B-9397-08002B2CF9AE}" pid="4" name="MSIP_Label_a4de43ec-192a-49eb-8e54-baeb8c71bbbe_ActionId">
    <vt:lpwstr>01c2c4a6-7e69-4fbd-946a-9756383d12ed</vt:lpwstr>
  </property>
  <property fmtid="{D5CDD505-2E9C-101B-9397-08002B2CF9AE}" pid="5" name="MSIP_Label_a4de43ec-192a-49eb-8e54-baeb8c71bbbe_ContentBits">
    <vt:lpwstr>2</vt:lpwstr>
  </property>
  <property fmtid="{D5CDD505-2E9C-101B-9397-08002B2CF9AE}" pid="6" name="MSIP_Label_a4de43ec-192a-49eb-8e54-baeb8c71bbbe_Enabled">
    <vt:lpwstr>true</vt:lpwstr>
  </property>
  <property fmtid="{D5CDD505-2E9C-101B-9397-08002B2CF9AE}" pid="7" name="MSIP_Label_a4de43ec-192a-49eb-8e54-baeb8c71bbbe_Method">
    <vt:lpwstr>Standard</vt:lpwstr>
  </property>
  <property fmtid="{D5CDD505-2E9C-101B-9397-08002B2CF9AE}" pid="8" name="MSIP_Label_a4de43ec-192a-49eb-8e54-baeb8c71bbbe_Name">
    <vt:lpwstr>Confidential – Oracle Internal</vt:lpwstr>
  </property>
  <property fmtid="{D5CDD505-2E9C-101B-9397-08002B2CF9AE}" pid="9" name="MSIP_Label_a4de43ec-192a-49eb-8e54-baeb8c71bbbe_SetDate">
    <vt:lpwstr>2025-08-06T18:16:41Z</vt:lpwstr>
  </property>
  <property fmtid="{D5CDD505-2E9C-101B-9397-08002B2CF9AE}" pid="10" name="MSIP_Label_a4de43ec-192a-49eb-8e54-baeb8c71bbbe_SiteId">
    <vt:lpwstr>4e2c6054-71cb-48f1-bd6c-3a9705aca71b</vt:lpwstr>
  </property>
  <property fmtid="{D5CDD505-2E9C-101B-9397-08002B2CF9AE}" pid="11" name="Notes">
    <vt:i4>5</vt:i4>
  </property>
  <property fmtid="{D5CDD505-2E9C-101B-9397-08002B2CF9AE}" pid="12" name="PresentationFormat">
    <vt:lpwstr>Custom</vt:lpwstr>
  </property>
  <property fmtid="{D5CDD505-2E9C-101B-9397-08002B2CF9AE}" pid="13" name="Slides">
    <vt:i4>44</vt:i4>
  </property>
</Properties>
</file>